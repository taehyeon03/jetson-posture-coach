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737360"/>
            <a:ext cx="2148840" cy="5950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02752" y="3794760"/>
            <a:ext cx="1682496" cy="54864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4480560"/>
            <a:ext cx="1335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11111"/>
                </a:solidFill>
                <a:latin typeface="Malgun Gothic"/>
              </a:defRPr>
            </a:pPr>
            <a:r>
              <a:t>온디바이스 AI를 활용한 개인 맞춤형 자세 감지 및 음성 코칭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5486400"/>
            <a:ext cx="6309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A8A8A"/>
                </a:solidFill>
                <a:latin typeface="Malgun Gothic"/>
              </a:defRPr>
            </a:pPr>
            <a:r>
              <a:t>AI임베디드 주제 발표 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49640"/>
            <a:ext cx="18288000" cy="1737360"/>
          </a:xfrm>
          <a:prstGeom prst="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93040" y="907084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김태현 / 탁윤성 / 변대필 / 김민석 / 김찬영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0" y="9500616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1조 김태현과 아이들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팀 소개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487168"/>
            <a:ext cx="5029200" cy="1847088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EC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688336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김태현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0156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7BAC3"/>
                </a:solidFill>
                <a:latin typeface="Malgun Gothic"/>
              </a:defRPr>
            </a:pPr>
            <a:r>
              <a:t>역할 및 학번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5074920"/>
            <a:ext cx="5029200" cy="1847088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EC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5276088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탁윤성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598932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7BAC3"/>
                </a:solidFill>
                <a:latin typeface="Malgun Gothic"/>
              </a:defRPr>
            </a:pPr>
            <a:r>
              <a:t>역할 및 학번 입력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58600" y="5074920"/>
            <a:ext cx="5029200" cy="1847088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EC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58600" y="5276088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변대필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0" y="598932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7BAC3"/>
                </a:solidFill>
                <a:latin typeface="Malgun Gothic"/>
              </a:defRPr>
            </a:pPr>
            <a:r>
              <a:t>역할 및 학번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7726679"/>
            <a:ext cx="5029200" cy="1847088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EC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7927848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김민석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864108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7BAC3"/>
                </a:solidFill>
                <a:latin typeface="Malgun Gothic"/>
              </a:defRPr>
            </a:pPr>
            <a:r>
              <a:t>역할 및 학번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7726679"/>
            <a:ext cx="5029200" cy="1847088"/>
          </a:xfrm>
          <a:prstGeom prst="roundRect">
            <a:avLst/>
          </a:prstGeom>
          <a:solidFill>
            <a:srgbClr val="F1F3FF"/>
          </a:solidFill>
          <a:ln w="10160">
            <a:solidFill>
              <a:srgbClr val="EC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7927848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김찬영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864108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7BAC3"/>
                </a:solidFill>
                <a:latin typeface="Malgun Gothic"/>
              </a:defRPr>
            </a:pPr>
            <a:r>
              <a:t>역할 및 학번 입력</a:t>
            </a:r>
          </a:p>
        </p:txBody>
      </p:sp>
      <p:sp>
        <p:nvSpPr>
          <p:cNvPr id="24" name="5-Point Star 23"/>
          <p:cNvSpPr/>
          <p:nvPr/>
        </p:nvSpPr>
        <p:spPr>
          <a:xfrm>
            <a:off x="8778240" y="5989320"/>
            <a:ext cx="594360" cy="594360"/>
          </a:xfrm>
          <a:prstGeom prst="star5">
            <a:avLst/>
          </a:prstGeom>
          <a:solidFill>
            <a:srgbClr val="FFD633"/>
          </a:solidFill>
          <a:ln>
            <a:solidFill>
              <a:srgbClr val="102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155448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111111"/>
                </a:solidFill>
                <a:latin typeface="Malgun Gothic"/>
              </a:defRPr>
            </a:pPr>
            <a:r>
              <a:t>C O N T E N T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6208" y="365760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1.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22191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777777"/>
                </a:solidFill>
                <a:latin typeface="Malgun Gothic"/>
              </a:defRPr>
            </a:pPr>
            <a:r>
              <a:t>p.04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6208" y="4215384"/>
            <a:ext cx="5715000" cy="36576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6208" y="475488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2. 연구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49194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777777"/>
                </a:solidFill>
                <a:latin typeface="Malgun Gothic"/>
              </a:defRPr>
            </a:pPr>
            <a:r>
              <a:t>p.07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5312664"/>
            <a:ext cx="5715000" cy="36576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585216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3. 프로젝트 동기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0167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777777"/>
                </a:solidFill>
                <a:latin typeface="Malgun Gothic"/>
              </a:defRPr>
            </a:pPr>
            <a:r>
              <a:t>p.10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6409944"/>
            <a:ext cx="5715000" cy="36576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694944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4. 개발 현황·방향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7114031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1">
                <a:solidFill>
                  <a:srgbClr val="777777"/>
                </a:solidFill>
                <a:latin typeface="Malgun Gothic"/>
              </a:defRPr>
            </a:pPr>
            <a:r>
              <a:t>p.13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7507223"/>
            <a:ext cx="5715000" cy="36576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25712" y="0"/>
            <a:ext cx="9162288" cy="10287000"/>
          </a:xfrm>
          <a:prstGeom prst="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0"/>
            <a:ext cx="8823960" cy="10287000"/>
          </a:xfrm>
          <a:prstGeom prst="rect">
            <a:avLst/>
          </a:prstGeom>
          <a:solidFill>
            <a:srgbClr val="10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C0C0C0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7223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111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09828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2607A"/>
                </a:solidFill>
                <a:latin typeface="Malgun Gothic"/>
              </a:defRPr>
            </a:pPr>
            <a:r>
              <a:t>AI임베디드 주제 발표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5486400"/>
            <a:ext cx="6583680" cy="3749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04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232" y="182880"/>
            <a:ext cx="1325880" cy="367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702784" y="957376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D8DDE5"/>
                </a:solidFill>
                <a:latin typeface="Malgun Gothi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프로젝트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230368"/>
            <a:ext cx="2788920" cy="512064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33488" y="5230368"/>
            <a:ext cx="4023360" cy="512064"/>
          </a:xfrm>
          <a:prstGeom prst="round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5074920"/>
            <a:ext cx="1403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111111"/>
                </a:solidFill>
                <a:latin typeface="Malgun Gothic"/>
              </a:defRPr>
            </a:pPr>
            <a:r>
              <a:t>“ 온디바이스 AI를 활용한 개인 맞춤형 자세 감지 및 음성 코칭 시스템 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6327648"/>
            <a:ext cx="8412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BBBBBB"/>
                </a:solidFill>
                <a:latin typeface="Malgun Gothic"/>
              </a:defRPr>
            </a:pPr>
            <a:r>
              <a:t>디지털 헬스 / 비접촉 자세 모니터링 / 임베디드 AI 자세 교정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프로젝트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장시간 앉아있는 사람들을 위한 자세 교정 코치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404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3840480"/>
            <a:ext cx="1276502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111111"/>
                </a:solidFill>
                <a:latin typeface="Malgun Gothic"/>
              </a:defRPr>
            </a:pPr>
            <a:r>
              <a:t>카메라를 통해 자세를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7731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4773168"/>
            <a:ext cx="1276502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111111"/>
                </a:solidFill>
                <a:latin typeface="Malgun Gothic"/>
              </a:defRPr>
            </a:pPr>
            <a:r>
              <a:t>Jetson Nano에서 현재 자세가 올바른지 아닌지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70585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5705856"/>
            <a:ext cx="1276502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111111"/>
                </a:solidFill>
                <a:latin typeface="Malgun Gothic"/>
              </a:defRPr>
            </a:pPr>
            <a:r>
              <a:t>현재 자세가 좋지 못할 때 스피커 또는 경고문으로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663854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6638544"/>
            <a:ext cx="1276502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200" b="0">
                <a:solidFill>
                  <a:srgbClr val="111111"/>
                </a:solidFill>
                <a:latin typeface="Malgun Gothic"/>
              </a:defRPr>
            </a:pPr>
            <a:r>
              <a:t>장시간 앉아있을 경우 스트레칭 권고로 피로 누적 해소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25712" y="0"/>
            <a:ext cx="9162288" cy="10287000"/>
          </a:xfrm>
          <a:prstGeom prst="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0"/>
            <a:ext cx="8823960" cy="10287000"/>
          </a:xfrm>
          <a:prstGeom prst="rect">
            <a:avLst/>
          </a:prstGeom>
          <a:solidFill>
            <a:srgbClr val="10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C0C0C0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7223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111"/>
                </a:solidFill>
                <a:latin typeface="Malgun Gothic"/>
              </a:defRPr>
            </a:pPr>
            <a:r>
              <a:t>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6265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962656"/>
            <a:ext cx="65471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777777"/>
                </a:solidFill>
                <a:latin typeface="Malgun Gothic"/>
              </a:defRPr>
            </a:pPr>
            <a:r>
              <a:t>잘못된 좌식 습관의 경고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3814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3438144"/>
            <a:ext cx="65471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777777"/>
                </a:solidFill>
                <a:latin typeface="Malgun Gothic"/>
              </a:defRPr>
            </a:pPr>
            <a:r>
              <a:t>좌식 행동으로 보내는 하루 평균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09828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2607A"/>
                </a:solidFill>
                <a:latin typeface="Malgun Gothic"/>
              </a:defRPr>
            </a:pPr>
            <a:r>
              <a:t>AI임베디드 주제 발표 보고서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5486400"/>
            <a:ext cx="6583680" cy="3749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04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232" y="182880"/>
            <a:ext cx="1325880" cy="3671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702784" y="957376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D8DDE5"/>
                </a:solidFill>
                <a:latin typeface="Malgun Gothi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연구 배경 - 잘못된 좌식 습관의 경고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8</a:t>
            </a:r>
          </a:p>
        </p:txBody>
      </p:sp>
      <p:pic>
        <p:nvPicPr>
          <p:cNvPr id="9" name="Picture 8" descr="art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6309360" cy="448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3675887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11111"/>
                </a:solidFill>
                <a:latin typeface="Malgun Gothic"/>
              </a:defRPr>
            </a:pPr>
            <a:r>
              <a:t>“거북목 자세가 오래 지속되면 목 뼈 주변의 근육·인대·디스크에 부담이 누적될 수 있습니다.”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501091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C5C5C5"/>
                </a:solidFill>
                <a:latin typeface="Malgun Gothic"/>
              </a:defRPr>
            </a:pPr>
            <a:r>
              <a:t>국민건강지식센터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5870448"/>
            <a:ext cx="96926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11111"/>
                </a:solidFill>
                <a:latin typeface="Malgun Gothic"/>
              </a:defRPr>
            </a:pPr>
            <a:r>
              <a:t>“앉는 순간 골반이 뒤로 밀리면서 허리의 정상적인 곡선이 무너지기 쉽고, 디스크 압력을 높일 수 있습니다.”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7479792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C5C5C5"/>
                </a:solidFill>
                <a:latin typeface="Malgun Gothic"/>
              </a:defRPr>
            </a:pPr>
            <a:r>
              <a:t>헬스조선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연구 배경 - 좌식 행동으로 보내는 하루 평균 시간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02D54"/>
                </a:solidFill>
                <a:latin typeface="Malgun Gothic"/>
              </a:defRPr>
            </a:pPr>
            <a:r>
              <a:t>국내 성인의 하루 평균 좌식 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47086"/>
                </a:solidFill>
                <a:latin typeface="Malgun Gothic"/>
              </a:defRPr>
            </a:pPr>
            <a:r>
              <a:t>2023년 국민건강통계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89120"/>
            <a:ext cx="1828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0">
                <a:solidFill>
                  <a:srgbClr val="102D54"/>
                </a:solidFill>
                <a:latin typeface="Malgun Gothic"/>
              </a:defRPr>
            </a:pPr>
            <a:r>
              <a:t>전체 (19세 이상)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4315968"/>
            <a:ext cx="4279392" cy="420624"/>
          </a:xfrm>
          <a:prstGeom prst="rect">
            <a:avLst/>
          </a:prstGeom>
          <a:solidFill>
            <a:srgbClr val="198A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1" y="4352544"/>
            <a:ext cx="914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D54"/>
                </a:solidFill>
                <a:latin typeface="Malgun Gothic"/>
              </a:defRPr>
            </a:pPr>
            <a:r>
              <a:t>9.0시간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074920"/>
            <a:ext cx="1828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0">
                <a:solidFill>
                  <a:srgbClr val="102D54"/>
                </a:solidFill>
                <a:latin typeface="Malgun Gothic"/>
              </a:defRPr>
            </a:pPr>
            <a:r>
              <a:t>19~29세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5001768"/>
            <a:ext cx="4707331" cy="420624"/>
          </a:xfrm>
          <a:prstGeom prst="rect">
            <a:avLst/>
          </a:prstGeom>
          <a:solidFill>
            <a:srgbClr val="2F6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2011" y="5038344"/>
            <a:ext cx="914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D54"/>
                </a:solidFill>
                <a:latin typeface="Malgun Gothic"/>
              </a:defRPr>
            </a:pPr>
            <a:r>
              <a:t>9.9시간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60720"/>
            <a:ext cx="1828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0">
                <a:solidFill>
                  <a:srgbClr val="102D54"/>
                </a:solidFill>
                <a:latin typeface="Malgun Gothic"/>
              </a:defRPr>
            </a:pPr>
            <a:r>
              <a:t>30~39세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5687568"/>
            <a:ext cx="4469587" cy="420624"/>
          </a:xfrm>
          <a:prstGeom prst="rect">
            <a:avLst/>
          </a:prstGeom>
          <a:solidFill>
            <a:srgbClr val="2F6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4267" y="5724144"/>
            <a:ext cx="914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D54"/>
                </a:solidFill>
                <a:latin typeface="Malgun Gothic"/>
              </a:defRPr>
            </a:pPr>
            <a:r>
              <a:t>9.4시간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446520"/>
            <a:ext cx="1828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0">
                <a:solidFill>
                  <a:srgbClr val="102D54"/>
                </a:solidFill>
                <a:latin typeface="Malgun Gothic"/>
              </a:defRPr>
            </a:pPr>
            <a:r>
              <a:t>40~49세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6373368"/>
            <a:ext cx="4279392" cy="420624"/>
          </a:xfrm>
          <a:prstGeom prst="rect">
            <a:avLst/>
          </a:prstGeom>
          <a:solidFill>
            <a:srgbClr val="2F6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1" y="6409944"/>
            <a:ext cx="914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D54"/>
                </a:solidFill>
                <a:latin typeface="Malgun Gothic"/>
              </a:defRPr>
            </a:pPr>
            <a:r>
              <a:t>9.0시간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7132320"/>
            <a:ext cx="1828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0">
                <a:solidFill>
                  <a:srgbClr val="102D54"/>
                </a:solidFill>
                <a:latin typeface="Malgun Gothic"/>
              </a:defRPr>
            </a:pPr>
            <a:r>
              <a:t>50~59세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7059168"/>
            <a:ext cx="4041648" cy="420624"/>
          </a:xfrm>
          <a:prstGeom prst="rect">
            <a:avLst/>
          </a:prstGeom>
          <a:solidFill>
            <a:srgbClr val="2F6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6328" y="7095744"/>
            <a:ext cx="914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D54"/>
                </a:solidFill>
                <a:latin typeface="Malgun Gothic"/>
              </a:defRPr>
            </a:pPr>
            <a:r>
              <a:t>8.5시간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32461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02D54"/>
                </a:solidFill>
                <a:latin typeface="Malgun Gothic"/>
              </a:defRPr>
            </a:pPr>
            <a:r>
              <a:t>사무직의 근무시간 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8404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47086"/>
                </a:solidFill>
                <a:latin typeface="Malgun Gothic"/>
              </a:defRPr>
            </a:pPr>
            <a:r>
              <a:t>정부기관 사무직 229명 · 신체 부착형 기기로 측정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4828032"/>
            <a:ext cx="2944962" cy="914400"/>
          </a:xfrm>
          <a:prstGeom prst="rect">
            <a:avLst/>
          </a:prstGeom>
          <a:solidFill>
            <a:srgbClr val="386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5029200"/>
            <a:ext cx="294496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FFFFFF"/>
                </a:solidFill>
                <a:latin typeface="Malgun Gothic"/>
              </a:defRPr>
            </a:pPr>
            <a:r>
              <a:t>42.1%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11922" y="4828032"/>
            <a:ext cx="2567223" cy="914400"/>
          </a:xfrm>
          <a:prstGeom prst="rect">
            <a:avLst/>
          </a:prstGeom>
          <a:solidFill>
            <a:srgbClr val="83A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1922" y="5029200"/>
            <a:ext cx="25672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111111"/>
                </a:solidFill>
                <a:latin typeface="Malgun Gothic"/>
              </a:defRPr>
            </a:pPr>
            <a:r>
              <a:t>36.7%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79146" y="4828032"/>
            <a:ext cx="1482973" cy="914400"/>
          </a:xfrm>
          <a:prstGeom prst="rect">
            <a:avLst/>
          </a:prstGeom>
          <a:solidFill>
            <a:srgbClr val="D8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479146" y="5029200"/>
            <a:ext cx="148297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111111"/>
                </a:solidFill>
                <a:latin typeface="Malgun Gothic"/>
              </a:defRPr>
            </a:pPr>
            <a:r>
              <a:t>21.2%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053328"/>
            <a:ext cx="3840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173F76"/>
                </a:solidFill>
                <a:latin typeface="Malgun Gothic"/>
              </a:defRPr>
            </a:pPr>
            <a:r>
              <a:t>전체 앉은 시간 78.8%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6720840"/>
            <a:ext cx="6995160" cy="868680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6931152"/>
            <a:ext cx="6995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F65A7"/>
                </a:solidFill>
                <a:latin typeface="Malgun Gothic"/>
              </a:defRPr>
            </a:pPr>
            <a:r>
              <a:t>8시간 근무 기준 약 6.3시간 앉음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25712" y="0"/>
            <a:ext cx="9162288" cy="10287000"/>
          </a:xfrm>
          <a:prstGeom prst="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0"/>
            <a:ext cx="8823960" cy="10287000"/>
          </a:xfrm>
          <a:prstGeom prst="rect">
            <a:avLst/>
          </a:prstGeom>
          <a:solidFill>
            <a:srgbClr val="10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704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C0C0C0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7223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111"/>
                </a:solidFill>
                <a:latin typeface="Malgun Gothic"/>
              </a:defRPr>
            </a:pPr>
            <a:r>
              <a:t>프로젝트 동기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6265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962656"/>
            <a:ext cx="65471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777777"/>
                </a:solidFill>
                <a:latin typeface="Malgun Gothic"/>
              </a:defRPr>
            </a:pPr>
            <a:r>
              <a:t>연구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3814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3438144"/>
            <a:ext cx="65471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777777"/>
                </a:solidFill>
                <a:latin typeface="Malgun Gothic"/>
              </a:defRPr>
            </a:pPr>
            <a:r>
              <a:t>시장성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909828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52607A"/>
                </a:solidFill>
                <a:latin typeface="Malgun Gothic"/>
              </a:defRPr>
            </a:pPr>
            <a:r>
              <a:t>AI임베디드 주제 발표 보고서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5486400"/>
            <a:ext cx="6583680" cy="3749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04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232" y="182880"/>
            <a:ext cx="1325880" cy="3671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702784" y="957376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D8DDE5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프로젝트 동기 - 연구 필요성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15468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111111"/>
                </a:solidFill>
                <a:latin typeface="Malgun Gothic"/>
              </a:defRPr>
            </a:pPr>
            <a:r>
              <a:t>성인의 좌식 시간 추이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7543800"/>
            <a:ext cx="7040880" cy="0"/>
          </a:xfrm>
          <a:prstGeom prst="line">
            <a:avLst/>
          </a:prstGeom>
          <a:ln w="101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737920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777777"/>
                </a:solidFill>
                <a:latin typeface="Malgun Gothic"/>
              </a:defRPr>
            </a:pPr>
            <a: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6812280"/>
            <a:ext cx="7040880" cy="0"/>
          </a:xfrm>
          <a:prstGeom prst="line">
            <a:avLst/>
          </a:prstGeom>
          <a:ln w="101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64768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777777"/>
                </a:solidFill>
                <a:latin typeface="Malgun Gothic"/>
              </a:defRPr>
            </a:pPr>
            <a:r>
              <a:t>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6080760"/>
            <a:ext cx="7040880" cy="0"/>
          </a:xfrm>
          <a:prstGeom prst="line">
            <a:avLst/>
          </a:prstGeom>
          <a:ln w="101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9161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777777"/>
                </a:solidFill>
                <a:latin typeface="Malgun Gothic"/>
              </a:defRPr>
            </a:pPr>
            <a:r>
              <a:t>40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5349240"/>
            <a:ext cx="7040880" cy="0"/>
          </a:xfrm>
          <a:prstGeom prst="line">
            <a:avLst/>
          </a:prstGeom>
          <a:ln w="101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518464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777777"/>
                </a:solidFill>
                <a:latin typeface="Malgun Gothic"/>
              </a:defRPr>
            </a:pPr>
            <a:r>
              <a:t>60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4617720"/>
            <a:ext cx="7040880" cy="0"/>
          </a:xfrm>
          <a:prstGeom prst="line">
            <a:avLst/>
          </a:prstGeom>
          <a:ln w="101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445312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777777"/>
                </a:solidFill>
                <a:latin typeface="Malgun Gothic"/>
              </a:defRPr>
            </a:pPr>
            <a: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3391" y="5835700"/>
            <a:ext cx="1133856" cy="1708099"/>
          </a:xfrm>
          <a:prstGeom prst="rect">
            <a:avLst/>
          </a:prstGeom>
          <a:solidFill>
            <a:srgbClr val="F7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96312" y="5771692"/>
            <a:ext cx="128016" cy="128016"/>
          </a:xfrm>
          <a:prstGeom prst="ellipse">
            <a:avLst/>
          </a:prstGeom>
          <a:solidFill>
            <a:srgbClr val="F2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3967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26B6B"/>
                </a:solidFill>
                <a:latin typeface="Malgun Gothic"/>
              </a:defRPr>
            </a:pPr>
            <a:r>
              <a:t>46.7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7653527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111111"/>
                </a:solidFill>
                <a:latin typeface="Malgun Gothic"/>
              </a:defRPr>
            </a:pPr>
            <a:r>
              <a:t>2014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5112" y="5488228"/>
            <a:ext cx="1133856" cy="2055571"/>
          </a:xfrm>
          <a:prstGeom prst="rect">
            <a:avLst/>
          </a:prstGeom>
          <a:solidFill>
            <a:srgbClr val="F7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28031" y="5424220"/>
            <a:ext cx="128016" cy="128016"/>
          </a:xfrm>
          <a:prstGeom prst="ellipse">
            <a:avLst/>
          </a:prstGeom>
          <a:solidFill>
            <a:srgbClr val="F2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04931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26B6B"/>
                </a:solidFill>
                <a:latin typeface="Malgun Gothic"/>
              </a:defRPr>
            </a:pPr>
            <a:r>
              <a:t>56.2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7653527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111111"/>
                </a:solidFill>
                <a:latin typeface="Malgun Gothic"/>
              </a:defRPr>
            </a:pPr>
            <a:r>
              <a:t>2017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56831" y="5239512"/>
            <a:ext cx="1133856" cy="2304288"/>
          </a:xfrm>
          <a:prstGeom prst="rect">
            <a:avLst/>
          </a:prstGeom>
          <a:solidFill>
            <a:srgbClr val="F7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59751" y="5175503"/>
            <a:ext cx="128016" cy="128016"/>
          </a:xfrm>
          <a:prstGeom prst="ellipse">
            <a:avLst/>
          </a:prstGeom>
          <a:solidFill>
            <a:srgbClr val="F2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48006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F26B6B"/>
                </a:solidFill>
                <a:latin typeface="Malgun Gothic"/>
              </a:defRPr>
            </a:pPr>
            <a:r>
              <a:t>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7653527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111111"/>
                </a:solidFill>
                <a:latin typeface="Malgun Gothic"/>
              </a:defRPr>
            </a:pPr>
            <a:r>
              <a:t>2021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560320" y="5488228"/>
            <a:ext cx="2331720" cy="347472"/>
          </a:xfrm>
          <a:prstGeom prst="line">
            <a:avLst/>
          </a:prstGeom>
          <a:ln w="15240">
            <a:solidFill>
              <a:srgbClr val="F2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892040" y="5239512"/>
            <a:ext cx="2331719" cy="248716"/>
          </a:xfrm>
          <a:prstGeom prst="line">
            <a:avLst/>
          </a:prstGeom>
          <a:ln w="15240">
            <a:solidFill>
              <a:srgbClr val="F2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37560" y="797356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111111"/>
                </a:solidFill>
                <a:latin typeface="Malgun Gothic"/>
              </a:defRPr>
            </a:pPr>
            <a:r>
              <a:t>● 8시간 이상 좌식생활하는 성인 비율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49240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앉아서 일하는 성인의 비율은 해마다 늘어나고 있고</a:t>
            </a:r>
          </a:p>
          <a:p>
            <a:pPr algn="ctr">
              <a:spcAft>
                <a:spcPts val="0"/>
              </a:spcAft>
              <a:defRPr sz="2200" b="1">
                <a:solidFill>
                  <a:srgbClr val="111111"/>
                </a:solidFill>
                <a:latin typeface="Malgun Gothic"/>
              </a:defRPr>
            </a:pPr>
            <a:r>
              <a:t>흔해진 만큼 자세에 대한 인식이 중요해지고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프로젝트 동기 - 시장성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11111"/>
                </a:solidFill>
                <a:latin typeface="Malgun Gothic"/>
              </a:defRPr>
            </a:pPr>
            <a:r>
              <a:t>시장성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06040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111111"/>
                </a:solidFill>
                <a:latin typeface="Malgun Gothic"/>
              </a:defRPr>
            </a:pPr>
            <a:r>
              <a:t>시장성 전망(2025 ~ 2030년)</a:t>
            </a:r>
          </a:p>
        </p:txBody>
      </p:sp>
      <p:pic>
        <p:nvPicPr>
          <p:cNvPr id="11" name="Picture 10" descr="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740664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15400" y="3657600"/>
            <a:ext cx="84124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Grand View Research에 따르면 자세 교정 시장의</a:t>
            </a:r>
          </a:p>
          <a:p>
            <a:pPr algn="l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2025~2030년 예상 연평균 성장률은 8.4%이며,</a:t>
            </a:r>
          </a:p>
          <a:p>
            <a:pPr algn="l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2030년 약 20억 달러 규모로 성장할 것으로 예상된다.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6126480"/>
            <a:ext cx="8138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11111"/>
                </a:solidFill>
                <a:latin typeface="Malgun Gothic"/>
              </a:defRPr>
            </a:pPr>
            <a:r>
              <a:t>이는 자세 교정 제품의 시장 기회가</a:t>
            </a:r>
          </a:p>
          <a:p>
            <a:pPr algn="l">
              <a:spcAft>
                <a:spcPts val="0"/>
              </a:spcAft>
              <a:defRPr sz="2100" b="1">
                <a:solidFill>
                  <a:srgbClr val="111111"/>
                </a:solidFill>
                <a:latin typeface="Malgun Gothic"/>
              </a:defRPr>
            </a:pPr>
            <a:r>
              <a:t>확대되고 있음을 보여준다.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45820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A7A7A7"/>
                </a:solidFill>
                <a:latin typeface="Malgun Gothic"/>
              </a:defRPr>
            </a:pPr>
            <a:r>
              <a:t>grand view research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30768" y="566928"/>
            <a:ext cx="9857232" cy="9317736"/>
          </a:xfrm>
          <a:prstGeom prst="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566928"/>
            <a:ext cx="9144000" cy="9317736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52144"/>
            <a:ext cx="73152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11111"/>
                </a:solidFill>
                <a:latin typeface="Malgun Gothic"/>
              </a:defRPr>
            </a:pPr>
            <a:r>
              <a:t>개발 현황·병목 분석·향후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9162288"/>
            <a:ext cx="4023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AI임베디드 주제 발표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5212080"/>
            <a:ext cx="649224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90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D8DDE5"/>
                </a:solidFill>
                <a:latin typeface="Malgun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현재 개발 현황 - 온디바이스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어제 실측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926080"/>
            <a:ext cx="2971800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A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64207" y="3236976"/>
            <a:ext cx="182880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7" y="32552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77056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카메라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2628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CSI 카메라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측면 착석 영상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2232" y="4297680"/>
            <a:ext cx="356616" cy="0"/>
          </a:xfrm>
          <a:prstGeom prst="line">
            <a:avLst/>
          </a:prstGeom>
          <a:ln w="30480">
            <a:solidFill>
              <a:srgbClr val="173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2926080"/>
            <a:ext cx="2971800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A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8928" y="3236976"/>
            <a:ext cx="182880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32552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77056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자세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2628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Pose-ResNet18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TensorRT FP16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6952" y="4297680"/>
            <a:ext cx="356616" cy="0"/>
          </a:xfrm>
          <a:prstGeom prst="line">
            <a:avLst/>
          </a:prstGeom>
          <a:ln w="30480">
            <a:solidFill>
              <a:srgbClr val="173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46719" y="2926080"/>
            <a:ext cx="2971800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A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3647" y="3236976"/>
            <a:ext cx="182880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7" y="32552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3877056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개인화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52628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귀·어깨·엉덩이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기준·지속시간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091672" y="4297680"/>
            <a:ext cx="356616" cy="0"/>
          </a:xfrm>
          <a:prstGeom prst="line">
            <a:avLst/>
          </a:prstGeom>
          <a:ln w="30480">
            <a:solidFill>
              <a:srgbClr val="173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521439" y="2926080"/>
            <a:ext cx="2971800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A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088367" y="3236976"/>
            <a:ext cx="182880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88367" y="32552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구현 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19" y="3877056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시각화·계측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39" y="452628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웹 대시보드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벤치마크 로그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566391" y="4297680"/>
            <a:ext cx="356617" cy="0"/>
          </a:xfrm>
          <a:prstGeom prst="line">
            <a:avLst/>
          </a:prstGeom>
          <a:ln w="30480">
            <a:solidFill>
              <a:srgbClr val="173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4996159" y="2926080"/>
            <a:ext cx="2971800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E3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563088" y="3236976"/>
            <a:ext cx="1828800" cy="420624"/>
          </a:xfrm>
          <a:prstGeom prst="roundRect">
            <a:avLst/>
          </a:prstGeom>
          <a:solidFill>
            <a:srgbClr val="E3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63088" y="325526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통합 예정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9039" y="3877056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피드백 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24759" y="452628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장치 오디오</a:t>
            </a:r>
          </a:p>
          <a:p>
            <a:pPr algn="ctr">
              <a:spcAft>
                <a:spcPts val="0"/>
              </a:spcAft>
              <a:defRPr sz="1600" b="0">
                <a:solidFill>
                  <a:srgbClr val="777777"/>
                </a:solidFill>
                <a:latin typeface="Malgun Gothic"/>
              </a:defRPr>
            </a:pPr>
            <a:r>
              <a:t>GPIO·Bluetooth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6446520"/>
            <a:ext cx="16093440" cy="19659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6720840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3F76"/>
                </a:solidFill>
                <a:latin typeface="Malgun Gothic"/>
              </a:defRPr>
            </a:pPr>
            <a:r>
              <a:t>현재 달성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725119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28216" y="7251192"/>
            <a:ext cx="6272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1111"/>
                </a:solidFill>
                <a:latin typeface="Malgun Gothic"/>
              </a:defRPr>
            </a:pPr>
            <a:r>
              <a:t>카메라 → 고정 ROI → GPU 추론 → 개인 기준 판정 → 대시보드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77541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28216" y="7754112"/>
            <a:ext cx="62727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1111"/>
                </a:solidFill>
                <a:latin typeface="Malgun Gothic"/>
              </a:defRPr>
            </a:pPr>
            <a:r>
              <a:t>원본 영상 외부 전송 없이 Jetson에서 로컬 처리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6720840"/>
            <a:ext cx="2834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E39119"/>
                </a:solidFill>
                <a:latin typeface="Malgun Gothic"/>
              </a:defRPr>
            </a:pPr>
            <a:r>
              <a:t>남은 통합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725119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616" y="7251192"/>
            <a:ext cx="6912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1111"/>
                </a:solidFill>
                <a:latin typeface="Malgun Gothic"/>
              </a:defRPr>
            </a:pPr>
            <a:r>
              <a:t>음성 파일 재생, 착석 센서·LED·버튼, 상태 전송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77541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0616" y="7754112"/>
            <a:ext cx="6912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11111"/>
                </a:solidFill>
                <a:latin typeface="Malgun Gothic"/>
              </a:defRPr>
            </a:pPr>
            <a:r>
              <a:t>사용자 데이터 평가와 30분 이상 연속 실행 검증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어제 수행한 테스트 - 목적·조건·측정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2026.09.28 · Jetson Nano 4GB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7726679" cy="24505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980944"/>
            <a:ext cx="3154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① 모델 단독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547872"/>
            <a:ext cx="32918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TensorRT FP16 엔진</a:t>
            </a:r>
          </a:p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합성 프레임 · 60초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4608" y="3017520"/>
            <a:ext cx="0" cy="187452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66360" y="30175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77777"/>
                </a:solidFill>
                <a:latin typeface="Malgun Gothic"/>
              </a:defRPr>
            </a:pPr>
            <a:r>
              <a:t>측정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456432"/>
            <a:ext cx="3246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FPS · 추론 p95</a:t>
            </a:r>
          </a:p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RSS · 온도 ·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315968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모델 자체의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엣지 실행 가능성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2743200"/>
            <a:ext cx="7726679" cy="24505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92055" y="2980944"/>
            <a:ext cx="3154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② 실시간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5" y="3547872"/>
            <a:ext cx="32918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CSI 카메라 → 얼굴 ROI</a:t>
            </a:r>
          </a:p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→ 자세 추론 → 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048488" y="3017520"/>
            <a:ext cx="0" cy="187452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350239" y="30175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77777"/>
                </a:solidFill>
                <a:latin typeface="Malgun Gothic"/>
              </a:defRPr>
            </a:pPr>
            <a:r>
              <a:t>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39" y="3456432"/>
            <a:ext cx="3246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전체 FPS · 지연 p95</a:t>
            </a:r>
          </a:p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얼굴 검출 · 추론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39" y="4315968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불필요한 얼굴 검출을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제거할 근거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623560"/>
            <a:ext cx="7726679" cy="24505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8176" y="5861304"/>
            <a:ext cx="3154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③ 자세 조건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6428232"/>
            <a:ext cx="32918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손: 허벅지 / 가슴 높이</a:t>
            </a:r>
          </a:p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등받이: 기대기 / 비기대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64608" y="5897880"/>
            <a:ext cx="0" cy="187452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66360" y="58978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77777"/>
                </a:solidFill>
                <a:latin typeface="Malgun Gothic"/>
              </a:defRPr>
            </a:pPr>
            <a:r>
              <a:t>측정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6336792"/>
            <a:ext cx="3246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raw 유효 자세율</a:t>
            </a:r>
          </a:p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엉덩이 confidence · 상태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7196328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어떤 착석 조건에서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판정이 흔들리는지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59" y="5623560"/>
            <a:ext cx="7726679" cy="24505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92055" y="5861304"/>
            <a:ext cx="31546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④ 네트워크 RTT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2055" y="6428232"/>
            <a:ext cx="32918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CAC-5G · 5GHz · -47dBm</a:t>
            </a:r>
          </a:p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20Hz · 30초 · 오류 0건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048488" y="5897880"/>
            <a:ext cx="0" cy="187452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350239" y="589788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77777"/>
                </a:solidFill>
                <a:latin typeface="Malgun Gothic"/>
              </a:defRPr>
            </a:pPr>
            <a:r>
              <a:t>측정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39" y="6336792"/>
            <a:ext cx="3246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HTTP RTT p50 / p95</a:t>
            </a:r>
          </a:p>
          <a:p>
            <a:pPr algn="l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촬영→클라이언 수신 지연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39" y="7196328"/>
            <a:ext cx="3246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Wi-Fi가 3.5 FPS의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173F76"/>
                </a:solidFill>
                <a:latin typeface="Malgun Gothic"/>
              </a:defRPr>
            </a:pPr>
            <a:r>
              <a:t>주요 원인인지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8732520"/>
            <a:ext cx="16093440" cy="502920"/>
          </a:xfrm>
          <a:prstGeom prst="roundRect">
            <a:avLst/>
          </a:prstGeom>
          <a:solidFill>
            <a:srgbClr val="FFF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8823960"/>
            <a:ext cx="1563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11111"/>
                </a:solidFill>
                <a:latin typeface="Malgun Gothic"/>
              </a:defRPr>
            </a:pPr>
            <a:r>
              <a:t>공통 조건: 워밍업 5초 후 자세별 60초 · 키포인트 confidence ≥ 0.25 · 참가자 1명의 탐색 실험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모델 단독 성능 - 경량화 목표 통과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Pose-ResNet18 · TensorRT FP16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3337560" cy="17373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2962656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13.10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09981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FPS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3312" y="3813048"/>
            <a:ext cx="269748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831335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목표 ≥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743200"/>
            <a:ext cx="3337560" cy="17373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02352" y="2962656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78.30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3099816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3813048"/>
            <a:ext cx="269748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3831335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추론 p95 ≤ 200ms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892040"/>
            <a:ext cx="3337560" cy="17373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5111496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1.41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5248655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3312" y="5961888"/>
            <a:ext cx="269748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5980175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RSS peak ≤ 3.5GB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4892040"/>
            <a:ext cx="3337560" cy="17373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5111496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48.5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5248655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02352" y="5961888"/>
            <a:ext cx="269748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2" y="5980175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최고 온도 &lt; 80°C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2606040"/>
            <a:ext cx="8183879" cy="5440680"/>
          </a:xfrm>
          <a:prstGeom prst="round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11_model_benchmark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28" y="2761488"/>
            <a:ext cx="7772400" cy="43708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44000" y="7360920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60초 모델 단독 측정 · 오류 0건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7406640"/>
            <a:ext cx="7086600" cy="658368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7534656"/>
            <a:ext cx="6629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결론: 자세 추론 모델 자체는 실시간 처리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8458200"/>
            <a:ext cx="159105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77777"/>
                </a:solidFill>
                <a:latin typeface="Malgun Gothic"/>
              </a:defRPr>
            </a:pPr>
            <a:r>
              <a:t>※ 합성 프레임 기준. 카메라·얼굴 검출·네트워크는 포함하지 않음.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전체 파이프라인 - 불필요한 얼굴 검출이 병목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5개 자세 조건 · 각 60초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8686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프레임 처리 시간(대표값, 약 303ms)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29000"/>
            <a:ext cx="6126178" cy="960120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47872"/>
            <a:ext cx="612617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Face detect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201~205ms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458" y="3429000"/>
            <a:ext cx="2082297" cy="960120"/>
          </a:xfrm>
          <a:prstGeom prst="rect">
            <a:avLst/>
          </a:prstGeom>
          <a:solidFill>
            <a:srgbClr val="FFD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458" y="3547872"/>
            <a:ext cx="208229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Pose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≈69ms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5755" y="3429000"/>
            <a:ext cx="935524" cy="960120"/>
          </a:xfrm>
          <a:prstGeom prst="rect">
            <a:avLst/>
          </a:prstGeom>
          <a:solidFill>
            <a:srgbClr val="BFC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5755" y="3547872"/>
            <a:ext cx="93552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기타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≈31ms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97280" y="4800600"/>
            <a:ext cx="9144000" cy="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5212080"/>
            <a:ext cx="2468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전체 FPS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57216"/>
            <a:ext cx="2926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73F76"/>
                </a:solidFill>
                <a:latin typeface="Malgun Gothic"/>
              </a:defRPr>
            </a:pPr>
            <a:r>
              <a:t>3.53 ~ 3.58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193792"/>
            <a:ext cx="3383280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212080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목표 5 FPS 미달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26480"/>
            <a:ext cx="2468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전체 지연 p95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6071616"/>
            <a:ext cx="2926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73F76"/>
                </a:solidFill>
                <a:latin typeface="Malgun Gothic"/>
              </a:defRPr>
            </a:pPr>
            <a:r>
              <a:t>316.85 ~ 322.11ms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6108192"/>
            <a:ext cx="3383280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6126480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목표 200ms 초과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7040880"/>
            <a:ext cx="2468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HTTP RTT p95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986016"/>
            <a:ext cx="29260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173F76"/>
                </a:solidFill>
                <a:latin typeface="Malgun Gothic"/>
              </a:defRPr>
            </a:pPr>
            <a:r>
              <a:t>26.94ms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7022592"/>
            <a:ext cx="338328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7040880"/>
            <a:ext cx="3383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네트워크는 주요 원인 아님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0" y="2606040"/>
            <a:ext cx="6217920" cy="5349240"/>
          </a:xfrm>
          <a:prstGeom prst="roundRect">
            <a:avLst/>
          </a:prstGeom>
          <a:solidFill>
            <a:srgbClr val="102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12_cac5g_network_rt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16352"/>
            <a:ext cx="5852160" cy="32918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320272" y="6400800"/>
            <a:ext cx="55321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촬영→클라이언트 p95 354.77ms</a:t>
            </a:r>
          </a:p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RTT의 약 13배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8275320"/>
            <a:ext cx="16093440" cy="658368"/>
          </a:xfrm>
          <a:prstGeom prst="roundRect">
            <a:avLst/>
          </a:prstGeom>
          <a:solidFill>
            <a:srgbClr val="FFF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8412480"/>
            <a:ext cx="1572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11111"/>
                </a:solidFill>
                <a:latin typeface="Malgun Gothic"/>
              </a:defRPr>
            </a:pPr>
            <a:r>
              <a:t>실험 결론: 얼굴 인식은 불필요 → 얼굴 검출 제거 후 고정 ROI로 대체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자세 판정 신뢰성 - 엉덩이 가시성이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confidence ≥ 0.25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7543800"/>
            <a:ext cx="7818120" cy="0"/>
          </a:xfrm>
          <a:prstGeom prst="line">
            <a:avLst/>
          </a:prstGeom>
          <a:ln w="10160"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737920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6423660"/>
            <a:ext cx="7818120" cy="0"/>
          </a:xfrm>
          <a:prstGeom prst="line">
            <a:avLst/>
          </a:prstGeom>
          <a:ln w="10160"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7280" y="625906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5303520"/>
            <a:ext cx="7818120" cy="0"/>
          </a:xfrm>
          <a:prstGeom prst="line">
            <a:avLst/>
          </a:prstGeom>
          <a:ln w="10160"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51389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4183380"/>
            <a:ext cx="7818120" cy="0"/>
          </a:xfrm>
          <a:prstGeom prst="line">
            <a:avLst/>
          </a:prstGeom>
          <a:ln w="10160"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401878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75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3063239"/>
            <a:ext cx="7818120" cy="0"/>
          </a:xfrm>
          <a:prstGeom prst="line">
            <a:avLst/>
          </a:prstGeom>
          <a:ln w="10160">
            <a:solidFill>
              <a:srgbClr val="E1E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2898647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777777"/>
                </a:solidFill>
                <a:latin typeface="Malgun Gothic"/>
              </a:defRPr>
            </a:pPr>
            <a:r>
              <a:t>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626059"/>
            <a:ext cx="1078992" cy="2917740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168859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73F76"/>
                </a:solidFill>
                <a:latin typeface="Malgun Gothic"/>
              </a:defRPr>
            </a:pPr>
            <a:r>
              <a:t>65.12%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7680960"/>
            <a:ext cx="15727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허벅지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비기대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3688278"/>
            <a:ext cx="1078992" cy="3855521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1" y="3231078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73F76"/>
                </a:solidFill>
                <a:latin typeface="Malgun Gothic"/>
              </a:defRPr>
            </a:pPr>
            <a:r>
              <a:t>86.05%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7680960"/>
            <a:ext cx="15727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손 들기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비기대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15161"/>
            <a:ext cx="1078992" cy="3828638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3257961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73F76"/>
                </a:solidFill>
                <a:latin typeface="Malgun Gothic"/>
              </a:defRPr>
            </a:pPr>
            <a:r>
              <a:t>85.45%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7680960"/>
            <a:ext cx="15727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손 들기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기대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0256" y="6254742"/>
            <a:ext cx="1078992" cy="1289057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5797542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D85858"/>
                </a:solidFill>
                <a:latin typeface="Malgun Gothic"/>
              </a:defRPr>
            </a:pPr>
            <a:r>
              <a:t>28.77%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7680960"/>
            <a:ext cx="15727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손 들기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비기대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063239"/>
            <a:ext cx="1078992" cy="4480560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2606039"/>
            <a:ext cx="1444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73F76"/>
                </a:solidFill>
                <a:latin typeface="Malgun Gothic"/>
              </a:defRPr>
            </a:pPr>
            <a:r>
              <a:t>100.00%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7680960"/>
            <a:ext cx="15727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허벅지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777777"/>
                </a:solidFill>
                <a:latin typeface="Malgun Gothic"/>
              </a:defRPr>
            </a:pPr>
            <a:r>
              <a:t>기대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2542032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11111"/>
                </a:solidFill>
                <a:latin typeface="Malgun Gothic"/>
              </a:defRPr>
            </a:pPr>
            <a:r>
              <a:t>raw 유효 자세율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2697480"/>
            <a:ext cx="6949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09_hands_on_thighs_leaning_backrest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2862072"/>
            <a:ext cx="3154680" cy="2103120"/>
          </a:xfrm>
          <a:prstGeom prst="rect">
            <a:avLst/>
          </a:prstGeom>
        </p:spPr>
      </p:pic>
      <p:pic>
        <p:nvPicPr>
          <p:cNvPr id="38" name="Picture 37" descr="07_hands_raised_no_backrest_repeat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592" y="2862072"/>
            <a:ext cx="3154680" cy="2103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78440" y="5230368"/>
            <a:ext cx="6675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같은 장소에서도 골반 위치·가림에 따라 판정 가능 여부가 바뀌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5897880"/>
            <a:ext cx="6949440" cy="26974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6199632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73F76"/>
                </a:solidFill>
                <a:latin typeface="Malgun Gothic"/>
              </a:defRPr>
            </a:pPr>
            <a:r>
              <a:t>핵심 관찰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72998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72216" y="6729984"/>
            <a:ext cx="57698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11111"/>
                </a:solidFill>
                <a:latin typeface="Malgun Gothic"/>
              </a:defRPr>
            </a:pPr>
            <a:r>
              <a:t>빨간 점: confidence 0.25 미만, 판정에 미사용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72969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72216" y="7296912"/>
            <a:ext cx="57698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11111"/>
                </a:solidFill>
                <a:latin typeface="Malgun Gothic"/>
              </a:defRPr>
            </a:pPr>
            <a:r>
              <a:t>100%는 정확도가 아닌 필수 관절 판정 가능률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786384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72216" y="7863840"/>
            <a:ext cx="576986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11111"/>
                </a:solidFill>
                <a:latin typeface="Malgun Gothic"/>
              </a:defRPr>
            </a:pPr>
            <a:r>
              <a:t>허벅지·비기대는 65.12% → 손 위치 효과 확정 불가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8823960"/>
            <a:ext cx="1609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777777"/>
                </a:solidFill>
                <a:latin typeface="Malgun Gothic"/>
              </a:defRPr>
            </a:pPr>
            <a:r>
              <a:t>※ 1명·조건별 1회의 탐색 실험으로, 손·등받이의 인과효과를 확정하지 않음.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조건별 병목 - 모델·파이프라인·자세의 문제를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실측 근거 기반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70048"/>
            <a:ext cx="4846320" cy="56692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79776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테스트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70048"/>
            <a:ext cx="4709160" cy="56692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779776"/>
            <a:ext cx="4709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관찰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2760" y="2670048"/>
            <a:ext cx="1828800" cy="56692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52760" y="27797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판정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81560" y="2670048"/>
            <a:ext cx="4709160" cy="56692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81560" y="2779776"/>
            <a:ext cx="4709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해석된 병목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91840"/>
            <a:ext cx="160934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3511296"/>
            <a:ext cx="43891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모델 단독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511296"/>
            <a:ext cx="42519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13.10 FPS · p95 78.30ms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3493008"/>
            <a:ext cx="1481328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3511296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0" y="3511296"/>
            <a:ext cx="41605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모델은 병목 아님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352544"/>
            <a:ext cx="16093440" cy="9326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4572000"/>
            <a:ext cx="43891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전체 실시간 5조건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572000"/>
            <a:ext cx="42519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3.53~3.58 FPS · p95 317~322ms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35640" y="4553712"/>
            <a:ext cx="1481328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4571999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속도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0" y="4572000"/>
            <a:ext cx="41605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불필요 Face detect 201~205ms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413248"/>
            <a:ext cx="160934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5632704"/>
            <a:ext cx="43891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손 들기·비기대 반복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632704"/>
            <a:ext cx="42519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유효률 86.05% → 28.77%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35640" y="5614416"/>
            <a:ext cx="1481328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35640" y="5632703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재현성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10160" y="5632704"/>
            <a:ext cx="41605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골반 위치·가림에 민감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6473952"/>
            <a:ext cx="16093440" cy="93268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6693408"/>
            <a:ext cx="43891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손 들기·등받이 기대기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6693408"/>
            <a:ext cx="42519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유효률 85.45% · 59.4회/분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35640" y="6675120"/>
            <a:ext cx="1481328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35640" y="6693407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안정성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10160" y="6693408"/>
            <a:ext cx="41605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임계값 근처 상태 진동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7534656"/>
            <a:ext cx="160934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5880" y="7754112"/>
            <a:ext cx="43891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허벅지·등받이 기대기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7754112"/>
            <a:ext cx="425196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유효률 100% · 0회/분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35640" y="7735824"/>
            <a:ext cx="1481328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35640" y="7754112"/>
            <a:ext cx="14813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양호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10160" y="7754112"/>
            <a:ext cx="41605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유리한 1회 조건, 일반화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8823960"/>
            <a:ext cx="16093440" cy="530352"/>
          </a:xfrm>
          <a:prstGeom prst="roundRect">
            <a:avLst/>
          </a:prstGeom>
          <a:solidFill>
            <a:srgbClr val="FFF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8924544"/>
            <a:ext cx="1563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11111"/>
                </a:solidFill>
                <a:latin typeface="Malgun Gothic"/>
              </a:defRPr>
            </a:pPr>
            <a:r>
              <a:t>결론: 현재 속도 병목은 불필요한 얼굴 검출 → 제거 후 고정 ROI 파이프라인으로 재측정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향후 논문 탐색 - 실험 질문으로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성능 개선 + 판정 강건성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743200"/>
            <a:ext cx="7726679" cy="2359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2999232"/>
            <a:ext cx="70408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① 시계열 자세 추정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3575304"/>
            <a:ext cx="6995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가림·누락 키포인트를</a:t>
            </a:r>
          </a:p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이전 프레임으로 보완할 수 있는가?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19" y="4526280"/>
            <a:ext cx="297180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4544568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temporal pose / pose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2743200"/>
            <a:ext cx="7726679" cy="2359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9" y="2999232"/>
            <a:ext cx="70408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② 상체 전용 자세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9" y="3575304"/>
            <a:ext cx="6995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엉덩이가 없을 때 머리 자세만</a:t>
            </a:r>
          </a:p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안전하게 제한 판정할 수 있는가?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199" y="4526280"/>
            <a:ext cx="297180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9" y="4544568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upper-body classification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532120"/>
            <a:ext cx="7726679" cy="2359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19" y="5788152"/>
            <a:ext cx="70408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③ 얼굴 검출 없는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6364224"/>
            <a:ext cx="6995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단일 사용자·고정 카메라에서</a:t>
            </a:r>
          </a:p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고정 ROI로 즉시 추론할 수 있는가?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19" y="7315200"/>
            <a:ext cx="297180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19" y="7333488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fixed ROI / initial 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5532120"/>
            <a:ext cx="7726679" cy="23591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199" y="5788152"/>
            <a:ext cx="70408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73F76"/>
                </a:solidFill>
                <a:latin typeface="Malgun Gothic"/>
              </a:defRPr>
            </a:pPr>
            <a:r>
              <a:t>④ 불확실성 보정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9" y="6364224"/>
            <a:ext cx="6995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confidence 임계값 하나가 아니라</a:t>
            </a:r>
          </a:p>
          <a:p>
            <a:pPr algn="l">
              <a:spcAft>
                <a:spcPts val="0"/>
              </a:spcAft>
              <a:defRPr sz="1600" b="1">
                <a:solidFill>
                  <a:srgbClr val="111111"/>
                </a:solidFill>
                <a:latin typeface="Malgun Gothic"/>
              </a:defRPr>
            </a:pPr>
            <a:r>
              <a:t>누락 시간·흔들림을 같이 쓸 수 있는가?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199" y="7315200"/>
            <a:ext cx="297180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199" y="7333488"/>
            <a:ext cx="2971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uncertainty / calibration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8549640"/>
            <a:ext cx="16093440" cy="658368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3312" y="8677656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73F76"/>
                </a:solidFill>
                <a:latin typeface="Malgun Gothic"/>
              </a:defRPr>
            </a:pPr>
            <a:r>
              <a:t>기존 기준: Lee et al.(2023) 자세 분류 + Lite-HRNet(2021)·Lite Pose(2022) 경량화 설계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파이프라인 발전 계획 - 논문 → 구현 → 통제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단계별 성공 조건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2743200"/>
            <a:ext cx="196596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276148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STEP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383280"/>
            <a:ext cx="333756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불필요 단계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805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얼굴 검출 제거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고정 ROI·최초 설정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81328" y="5669280"/>
            <a:ext cx="2569463" cy="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25880" y="5961888"/>
            <a:ext cx="28803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≥ 5 FPS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p95 ≤ 200ms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53712" y="5166360"/>
            <a:ext cx="548640" cy="0"/>
          </a:xfrm>
          <a:prstGeom prst="line">
            <a:avLst/>
          </a:prstGeom>
          <a:ln w="50800">
            <a:solidFill>
              <a:srgbClr val="FFD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33872" y="2743200"/>
            <a:ext cx="196596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276148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383280"/>
            <a:ext cx="333756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누락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4805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temporal fallback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상체 제한 모드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96128" y="5669280"/>
            <a:ext cx="2569464" cy="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40680" y="5961888"/>
            <a:ext cx="28803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판정 가능률·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오경보 동시 평가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68512" y="5166360"/>
            <a:ext cx="548640" cy="0"/>
          </a:xfrm>
          <a:prstGeom prst="line">
            <a:avLst/>
          </a:prstGeom>
          <a:ln w="50800">
            <a:solidFill>
              <a:srgbClr val="FFD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48672" y="2743200"/>
            <a:ext cx="196596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276148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STEP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383280"/>
            <a:ext cx="333756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통제 실험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4805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위치 표시·순서 무작위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조건별 ≥3회 반복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10928" y="5669280"/>
            <a:ext cx="2569464" cy="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55480" y="5961888"/>
            <a:ext cx="28803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반복 편차 축소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사용자 확장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783311" y="5166360"/>
            <a:ext cx="548640" cy="0"/>
          </a:xfrm>
          <a:prstGeom prst="line">
            <a:avLst/>
          </a:prstGeom>
          <a:ln w="50800">
            <a:solidFill>
              <a:srgbClr val="FFD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4063472" y="2743200"/>
            <a:ext cx="1965960" cy="420624"/>
          </a:xfrm>
          <a:prstGeom prst="roundRect">
            <a:avLst/>
          </a:prstGeom>
          <a:solidFill>
            <a:srgbClr val="E3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063472" y="2761488"/>
            <a:ext cx="1965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STEP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441680" y="3383280"/>
            <a:ext cx="3337560" cy="3886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624559" y="3703320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하드웨어 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670280" y="44805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TTS 오디오·GPIO</a:t>
            </a:r>
          </a:p>
          <a:p>
            <a:pPr algn="ctr">
              <a:spcAft>
                <a:spcPts val="0"/>
              </a:spcAft>
              <a:defRPr sz="1600" b="1">
                <a:solidFill>
                  <a:srgbClr val="777777"/>
                </a:solidFill>
                <a:latin typeface="Malgun Gothic"/>
              </a:defRPr>
            </a:pPr>
            <a:r>
              <a:t>Bluetooth·로컬 기록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825728" y="5669280"/>
            <a:ext cx="2569464" cy="0"/>
          </a:xfrm>
          <a:prstGeom prst="line">
            <a:avLst/>
          </a:prstGeom>
          <a:ln w="12700">
            <a:solidFill>
              <a:srgbClr val="D9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670280" y="5961888"/>
            <a:ext cx="288036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30분 연속 실행</a:t>
            </a:r>
          </a:p>
          <a:p>
            <a:pPr algn="ctr">
              <a:spcAft>
                <a:spcPts val="0"/>
              </a:spcAft>
              <a:defRPr sz="1500" b="1">
                <a:solidFill>
                  <a:srgbClr val="173F76"/>
                </a:solidFill>
                <a:latin typeface="Malgun Gothic"/>
              </a:defRPr>
            </a:pPr>
            <a:r>
              <a:t>피드백 효과 평가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7909560"/>
            <a:ext cx="15681959" cy="960120"/>
          </a:xfrm>
          <a:prstGeom prst="roundRect">
            <a:avLst/>
          </a:prstGeom>
          <a:solidFill>
            <a:srgbClr val="FFF5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8101583"/>
            <a:ext cx="15041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11111"/>
                </a:solidFill>
                <a:latin typeface="Malgun Gothic"/>
              </a:defRPr>
            </a:pPr>
            <a:r>
              <a:t>핵심 방향: ‘작동하는 시제품’에서 ‘재현 가능하고 오경보를 설명할 수 있는 시스템’으로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" y="960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B9B9B9"/>
                </a:solidFill>
                <a:latin typeface="Malgun Gothic"/>
              </a:defRPr>
            </a:pPr>
            <a:r>
              <a:t>온디바이스 AI를 활용한 개인 맞춤형 자세 감지·음성 코칭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389888"/>
            <a:ext cx="960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173F7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2167128"/>
            <a:ext cx="822960" cy="64008"/>
          </a:xfrm>
          <a:prstGeom prst="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4447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11111"/>
                </a:solidFill>
                <a:latin typeface="Malgun Gothic"/>
              </a:defRPr>
            </a:pPr>
            <a:r>
              <a:t>결론 - 어제 실험이 다음 개발 순서를 바꾸었다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57276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400" b="1">
                <a:solidFill>
                  <a:srgbClr val="777777"/>
                </a:solidFill>
                <a:latin typeface="Malgun Gothic"/>
              </a:defRPr>
            </a:pPr>
            <a:r>
              <a:t>현재 → 병목 → 다음 검증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19" y="2212848"/>
            <a:ext cx="15316201" cy="0"/>
          </a:xfrm>
          <a:prstGeom prst="line">
            <a:avLst/>
          </a:prstGeom>
          <a:ln w="15240">
            <a:solidFill>
              <a:srgbClr val="BFC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0" y="1499616"/>
            <a:ext cx="1252728" cy="346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93640" y="9555480"/>
            <a:ext cx="438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  <a:defRPr sz="1500" b="1">
                <a:solidFill>
                  <a:srgbClr val="A6A6A6"/>
                </a:solidFill>
                <a:latin typeface="Malgun Gothic"/>
              </a:defRPr>
            </a:pPr>
            <a: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80360"/>
            <a:ext cx="489204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9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3246120"/>
            <a:ext cx="2377440" cy="420624"/>
          </a:xfrm>
          <a:prstGeom prst="roundRect">
            <a:avLst/>
          </a:prstGeom>
          <a:solidFill>
            <a:srgbClr val="1A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3264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현재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4041648"/>
            <a:ext cx="4251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온디바이스 MVP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230368"/>
            <a:ext cx="4069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13.10 FPS 모델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개인 기준 판정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웹 대시보드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3328" y="5074920"/>
            <a:ext cx="402336" cy="0"/>
          </a:xfrm>
          <a:prstGeom prst="line">
            <a:avLst/>
          </a:prstGeom>
          <a:ln w="50800">
            <a:solidFill>
              <a:srgbClr val="FFD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37960" y="2880360"/>
            <a:ext cx="489204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99832" y="3246120"/>
            <a:ext cx="2377440" cy="420624"/>
          </a:xfrm>
          <a:prstGeom prst="roundRect">
            <a:avLst/>
          </a:prstGeom>
          <a:solidFill>
            <a:srgbClr val="D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2" y="3264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병목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41648"/>
            <a:ext cx="4251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전체 처리와 골반 가시성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230368"/>
            <a:ext cx="4069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전체 3.5 FPS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Face detect ≈203ms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반복 차이 57.28%p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94008" y="5074920"/>
            <a:ext cx="402336" cy="0"/>
          </a:xfrm>
          <a:prstGeom prst="line">
            <a:avLst/>
          </a:prstGeom>
          <a:ln w="50800">
            <a:solidFill>
              <a:srgbClr val="FFD6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978640" y="2880360"/>
            <a:ext cx="4892040" cy="4434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3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240512" y="3246120"/>
            <a:ext cx="2377440" cy="420624"/>
          </a:xfrm>
          <a:prstGeom prst="roundRect">
            <a:avLst/>
          </a:prstGeom>
          <a:solidFill>
            <a:srgbClr val="173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40512" y="3264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다음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98680" y="4041648"/>
            <a:ext cx="4251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11111"/>
                </a:solidFill>
                <a:latin typeface="Malgun Gothic"/>
              </a:defRPr>
            </a:pPr>
            <a:r>
              <a:t>논문 기반 파이프라인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90119" y="5230368"/>
            <a:ext cx="4069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얼굴 검출 제거·고정 ROI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시계열·상체 fallback</a:t>
            </a:r>
          </a:p>
          <a:p>
            <a:pPr algn="ctr">
              <a:spcAft>
                <a:spcPts val="0"/>
              </a:spcAft>
              <a:defRPr sz="1700" b="1">
                <a:solidFill>
                  <a:srgbClr val="777777"/>
                </a:solidFill>
                <a:latin typeface="Malgun Gothic"/>
              </a:defRPr>
            </a:pPr>
            <a:r>
              <a:t>통제 반복 실험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8028431"/>
            <a:ext cx="15727680" cy="777240"/>
          </a:xfrm>
          <a:prstGeom prst="roundRect">
            <a:avLst/>
          </a:prstGeom>
          <a:solidFill>
            <a:srgbClr val="EA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8202168"/>
            <a:ext cx="152247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73F76"/>
                </a:solidFill>
                <a:latin typeface="Malgun Gothic"/>
              </a:defRPr>
            </a:pPr>
            <a:r>
              <a:t>불필요한 얼굴 검출을 제거하고, ‘가림에 강한 자세 판정’에 연산을 집중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