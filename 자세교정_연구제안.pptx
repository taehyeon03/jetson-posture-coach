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Jetson Nano 4GB 기반</a:t>
            </a:r>
          </a:p>
          <a:p>
            <a:r>
              <a:t>개인화 자세 교정 지원 시스템</a:t>
            </a:r>
          </a:p>
          <a:p>
            <a:r>
              <a:t>경량 딥러닝으로 전방머리자세와 상체 기울어짐 감지</a:t>
            </a:r>
          </a:p>
          <a:p>
            <a:r>
              <a:t>연구 제안서 · 문헌 조사 기준일 2026.09.13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팀 소개 및 역할</a:t>
            </a:r>
          </a:p>
          <a:p>
            <a:r>
              <a:t>팀 인원이 미정인 상태의 역할 배분안 — 실제 팀원에 맞춰 통합·조정</a:t>
            </a:r>
          </a:p>
          <a:p>
            <a:r>
              <a:t>공동 산출물: 동작 시제품 + 사용자 분리 평가 + 재현 가능한 실행 설정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목차</a:t>
            </a:r>
          </a:p>
          <a:p>
            <a:r>
              <a:t>과제의 1–6항목을 본문에 반영하고, 논문·초록은 부록으로 구성</a:t>
            </a:r>
          </a:p>
          <a:p>
            <a:r>
              <a:t>부록: CV·CS 기여 / 4GB 구현 계획 / 논문 3편 / 검증 계획 / 초록 / 참고문헌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디지털 헬스 / 일상 자세 모니터링 / 개인화 교정 지원</a:t>
            </a:r>
          </a:p>
          <a:p>
            <a:r>
              <a:t>단일 사용자가 앉아 컴퓨터를 사용하는 환경부터 시작</a:t>
            </a:r>
          </a:p>
          <a:p>
            <a:r>
              <a:t>적용 범위: 자세 변화 인지와 행동 유도. 임상 진단이나 치료 효과는 별도 검증 대상.</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일상에서 자세 변화를 알아차리게 하는 도구</a:t>
            </a:r>
          </a:p>
          <a:p>
            <a:r>
              <a:t>문제 인식 → 생활 속 관찰 → 적절한 시점의 피드백</a:t>
            </a:r>
          </a:p>
          <a:p>
            <a:r>
              <a:t>신체활동 부족 통계는 거북목 유병률이나 자세 알림의 건강 효과를 의미하지 않는다.</a:t>
            </a:r>
          </a:p>
          <a:p>
            <a:r>
              <a:t>[B1] WHO, 신체활동 부족 보도자료, 2024-06-26</a:t>
            </a:r>
          </a:p>
          <a:p>
            <a:r>
              <a:t>https://www.who.int/news/item/26-06-2024-nearly-1.8-billion-adults-at-risk-of-disease-from-not-doing-enough-physical-activity</a:t>
            </a:r>
          </a:p>
          <a:p>
            <a:r>
              <a:t>[P1] Lee et al., Applied Sciences 2023, 13(19), 10935</a:t>
            </a:r>
          </a:p>
          <a:p>
            <a:r>
              <a:t>https://doi.org/10.3390/app131910935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최신 동향: 카메라 기반 평가와 온디바이스 피드백</a:t>
            </a:r>
          </a:p>
          <a:p>
            <a:r>
              <a:t>2025–2026 공개 자료에서 확인한 서비스·개발 방향</a:t>
            </a:r>
          </a:p>
          <a:p>
            <a:r>
              <a:t>기업 자료는 상용화 방향의 근거이며, 본 시스템의 성능·효과를 증명하는 자료는 아니다.</a:t>
            </a:r>
          </a:p>
          <a:p>
            <a:r>
              <a:t>[B2] Hinge Health, AI care tools, 2025-10-21</a:t>
            </a:r>
          </a:p>
          <a:p>
            <a:r>
              <a:t>https://ir.hingehealth.com/news/news-details/2025/Hinge-Health-unveils-new-AI-powered-care-tools/default.aspx</a:t>
            </a:r>
          </a:p>
          <a:p>
            <a:r>
              <a:t>[B3] Hinge Health R&amp;D, 기기 지연 최적화, 2026-08-04</a:t>
            </a:r>
          </a:p>
          <a:p>
            <a:r>
              <a:t>https://rnd.hingehealth.com/blog/cutting-latency-by-up-to-15-percent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국내 시장성: 산업보건·재활에서 일상 관리로</a:t>
            </a:r>
          </a:p>
          <a:p>
            <a:r>
              <a:t>기술 구조 대신 고객, 도입 경로, 구매 이유를 조사</a:t>
            </a:r>
          </a:p>
          <a:p>
            <a:r>
              <a:t>국내 자세 알림 기기의 시장 규모·지불의사는 확인되지 않음 → 인터뷰와 시범 도입으로 검증.</a:t>
            </a:r>
          </a:p>
          <a:p>
            <a:r>
              <a:t>[M1] EverEx 공식 뉴스룸, 2025년 국내 사업 동향</a:t>
            </a:r>
          </a:p>
          <a:p>
            <a:r>
              <a:t>https://www.everex.kr/ko/news?year=2025</a:t>
            </a:r>
          </a:p>
          <a:p>
            <a:r>
              <a:t>[M2] EverEx 공식 제품·서비스 소개, 2026-09-13 열람</a:t>
            </a:r>
          </a:p>
          <a:p>
            <a:r>
              <a:t>https://www.everex.kr/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해외 시장성: 근골격계 디지털 관리의 지불 수요</a:t>
            </a:r>
          </a:p>
          <a:p>
            <a:r>
              <a:t>2026년 발표된 2025 연간 실적을 활용한 인접시장 조사</a:t>
            </a:r>
          </a:p>
          <a:p>
            <a:r>
              <a:t>위 수치는 한 기업의 근골격계 관리 사업 실적이다. 거북목 교정기 시장 규모로 환산하지 않는다.</a:t>
            </a:r>
          </a:p>
          <a:p>
            <a:r>
              <a:t>[M3] Hinge Health, 2025 연간 실적, 2026-02-10</a:t>
            </a:r>
          </a:p>
          <a:p>
            <a:r>
              <a:t>https://ir.hingehealth.com/news/news-details/2026/Hinge-Health-reports-fourth-quarter-and-full-year-2025-financial-results/default.aspx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CV와 CS에 기여할 연구 질문</a:t>
            </a:r>
          </a:p>
          <a:p>
            <a:r>
              <a:t>“4GB 장치에서 정확도·오경보·지연의 균형을 어떻게 확보할 것인가?”</a:t>
            </a:r>
          </a:p>
          <a:p>
            <a:r>
              <a:t>제안한 기여는 연구 가설이며, 기존 방법보다 우수하다는 주장은 실험 이후 판단한다.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Jetson Nano 4GB에서 실행하기 위한 설계</a:t>
            </a:r>
          </a:p>
          <a:p>
            <a:r>
              <a:t>학습은 외부 PC, Nano는 단일 사용자 추론·후처리 담당 [H1]</a:t>
            </a:r>
          </a:p>
          <a:p>
            <a:r>
              <a:t>목표치는 실측 결과가 아니다. 모델 크기만으로 실행 메모리나 FPS를 보장할 수 없다.</a:t>
            </a:r>
          </a:p>
          <a:p>
            <a:r>
              <a:t>[H1] NVIDIA, Jetson Nano 공식 사양</a:t>
            </a:r>
          </a:p>
          <a:p>
            <a:r>
              <a:t>https://developer.nvidia.com/embedded/jetson-nano</a:t>
            </a:r>
          </a:p>
          <a:p>
            <a:r>
              <a:t>[H2] NVIDIA, JetPack 4 최종 릴리스 공지, 2024-11-22</a:t>
            </a:r>
          </a:p>
          <a:p>
            <a:r>
              <a:t>https://forums.developer.nvidia.com/t/announcing-end-of-life-for-nvidia-jetpack-4-with-the-release-of-jetpack-4-6-6/314300</a:t>
            </a:r>
          </a:p>
          <a:p>
            <a:r>
              <a:t>[P2] Yu et al., Lite-HRNet, CVPR 2021, pp. 10440–10450</a:t>
            </a:r>
          </a:p>
          <a:p>
            <a:r>
              <a:t>https://openaccess.thecvf.com/content/CVPR2021/html/Yu_Lite-HRNet_A_Lightweight_High-Resolution_Network_CVPR_2021_paper.html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컴퓨터 작업 중 목·척추 자세 분류</a:t>
            </a:r>
          </a:p>
          <a:p>
            <a:r>
              <a:t>Classifying Poor Postures of the Neck and Spine in Computer Work</a:t>
            </a:r>
          </a:p>
          <a:p>
            <a:r>
              <a:t>by Using Image and Skeleton Analysis</a:t>
            </a:r>
          </a:p>
          <a:p>
            <a:r>
              <a:t>직접 관련 논문: 자세 분류 문제 설정. MDPI 저널 조건에 해당하며 최상위 학회 논문과 구분.</a:t>
            </a:r>
          </a:p>
          <a:p>
            <a:r>
              <a:t>[P1] Lee et al., Applied Sciences 2023, 13(19), 10935</a:t>
            </a:r>
          </a:p>
          <a:p>
            <a:r>
              <a:t>https://doi.org/10.3390/app131910935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Lite-HRNet: 고해상도 특징을 유지하는 경량 모델</a:t>
            </a:r>
          </a:p>
          <a:p>
            <a:r>
              <a:t>Lite-HRNet: A Lightweight High-Resolution Network</a:t>
            </a:r>
          </a:p>
          <a:p>
            <a:r>
              <a:t>활용 방식: 원본 네트워크를 기준 모델로 사용하고 개인화·시간 조건의 효과를 분리 평가.</a:t>
            </a:r>
          </a:p>
          <a:p>
            <a:r>
              <a:t>[P2] Yu et al., Lite-HRNet, CVPR 2021, pp. 10440–10450</a:t>
            </a:r>
          </a:p>
          <a:p>
            <a:r>
              <a:t>https://openaccess.thecvf.com/content/CVPR2021/html/Yu_Lite-HRNet_A_Lightweight_High-Resolution_Network_CVPR_2021_paper.html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 Pose: 엣지 장치를 위한 효율적 구조 설계</a:t>
            </a:r>
          </a:p>
          <a:p>
            <a:r>
              <a:t>Lite Pose: Efficient Architecture Design for 2D Human Pose Estimation</a:t>
            </a:r>
          </a:p>
          <a:p>
            <a:r>
              <a:t>논문 3편의 역할: 자세 분류 근거(P1) + 경량 기준 모델(P2) + 효율 설계 비교(P3).</a:t>
            </a:r>
          </a:p>
          <a:p>
            <a:r>
              <a:t>[P3] Wang et al., Lite Pose, CVPR 2022, pp. 13126–13136</a:t>
            </a:r>
          </a:p>
          <a:p>
            <a:r>
              <a:t>https://openaccess.thecvf.com/content/CVPR2022/html/Wang_Lite_Pose_Efficient_Architecture_Design_for_2D_Human_Pose_Estimation_CVPR_2022_paper.html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감지부터 자세 복귀까지 검증</a:t>
            </a:r>
          </a:p>
          <a:p>
            <a:r>
              <a:t>측면 카메라 → 키포인트 → 기준 대비 변화 → 지속 시간 판단 → 알림</a:t>
            </a:r>
          </a:p>
          <a:p>
            <a:r>
              <a:t>어깨 키포인트는 C7이 아니므로 귀–어깨 각도를 임상 CVA로 표기하지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초록</a:t>
            </a:r>
          </a:p>
          <a:p>
            <a:r>
              <a:t>연구계획형 초록 · 아직 실험하지 않은 성능이나 치료 효과는 포함하지 않음</a:t>
            </a:r>
          </a:p>
          <a:p>
            <a:r>
              <a:t>키워드: 전방머리자세 · 경량 자세 추정 · Jetson Nano · 엣지 AI · 개인화 피드백</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 Lee et al., Applied Sciences 2023, 13(19), 10935</a:t>
            </a:r>
          </a:p>
          <a:p>
            <a:r>
              <a:t>https://doi.org/10.3390/app131910935</a:t>
            </a:r>
          </a:p>
          <a:p/>
          <a:p>
            <a:r>
              <a:t>[P2] Yu et al., Lite-HRNet, CVPR 2021, pp. 10440–10450</a:t>
            </a:r>
          </a:p>
          <a:p>
            <a:r>
              <a:t>https://openaccess.thecvf.com/content/CVPR2021/html/Yu_Lite-HRNet_A_Lightweight_High-Resolution_Network_CVPR_2021_paper.html</a:t>
            </a:r>
          </a:p>
          <a:p/>
          <a:p>
            <a:r>
              <a:t>[P3] Wang et al., Lite Pose, CVPR 2022, pp. 13126–13136</a:t>
            </a:r>
          </a:p>
          <a:p>
            <a:r>
              <a:t>https://openaccess.thecvf.com/content/CVPR2022/html/Wang_Lite_Pose_Efficient_Architecture_Design_for_2D_Human_Pose_Estimation_CVPR_2022_paper.html</a:t>
            </a:r>
          </a:p>
          <a:p/>
          <a:p>
            <a:r>
              <a:t>[H1] NVIDIA, Jetson Nano 공식 사양</a:t>
            </a:r>
          </a:p>
          <a:p>
            <a:r>
              <a:t>https://developer.nvidia.com/embedded/jetson-nano</a:t>
            </a:r>
          </a:p>
          <a:p/>
          <a:p>
            <a:r>
              <a:t>[H2] NVIDIA, JetPack 4 최종 릴리스 공지, 2024-11-22</a:t>
            </a:r>
          </a:p>
          <a:p>
            <a:r>
              <a:t>https://forums.developer.nvidia.com/t/announcing-end-of-life-for-nvidia-jetpack-4-with-the-release-of-jetpack-4-6-6/314300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[B1] WHO, 신체활동 부족 보도자료, 2024-06-26</a:t>
            </a:r>
          </a:p>
          <a:p>
            <a:r>
              <a:t>https://www.who.int/news/item/26-06-2024-nearly-1.8-billion-adults-at-risk-of-disease-from-not-doing-enough-physical-activity</a:t>
            </a:r>
          </a:p>
          <a:p/>
          <a:p>
            <a:r>
              <a:t>[B2] Hinge Health, AI care tools, 2025-10-21</a:t>
            </a:r>
          </a:p>
          <a:p>
            <a:r>
              <a:t>https://ir.hingehealth.com/news/news-details/2025/Hinge-Health-unveils-new-AI-powered-care-tools/default.aspx</a:t>
            </a:r>
          </a:p>
          <a:p/>
          <a:p>
            <a:r>
              <a:t>[B3] Hinge Health R&amp;D, 기기 지연 최적화, 2026-08-04</a:t>
            </a:r>
          </a:p>
          <a:p>
            <a:r>
              <a:t>https://rnd.hingehealth.com/blog/cutting-latency-by-up-to-15-percent</a:t>
            </a:r>
          </a:p>
          <a:p/>
          <a:p>
            <a:r>
              <a:t>[M1] EverEx 공식 뉴스룸, 2025년 국내 사업 동향</a:t>
            </a:r>
          </a:p>
          <a:p>
            <a:r>
              <a:t>https://www.everex.kr/ko/news?year=2025</a:t>
            </a:r>
          </a:p>
          <a:p/>
          <a:p>
            <a:r>
              <a:t>[M2] EverEx 공식 제품·서비스 소개, 2026-09-13 열람</a:t>
            </a:r>
          </a:p>
          <a:p>
            <a:r>
              <a:t>https://www.everex.kr/</a:t>
            </a:r>
          </a:p>
          <a:p/>
          <a:p>
            <a:r>
              <a:t>[M3] Hinge Health, 2025 연간 실적, 2026-02-10</a:t>
            </a:r>
          </a:p>
          <a:p>
            <a:r>
              <a:t>https://ir.hingehealth.com/news/news-details/2026/Hinge-Health-reports-fourth-quarter-and-full-year-2025-financial-results/default.aspx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who.int/news/item/26-06-2024-nearly-1.8-billion-adults-at-risk-of-disease-from-not-doing-enough-physical-activity" TargetMode="External"/><Relationship Id="rId3" Type="http://schemas.openxmlformats.org/officeDocument/2006/relationships/hyperlink" Target="https://doi.org/10.3390/app131910935"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ir.hingehealth.com/news/news-details/2025/Hinge-Health-unveils-new-AI-powered-care-tools/default.aspx" TargetMode="External"/><Relationship Id="rId3" Type="http://schemas.openxmlformats.org/officeDocument/2006/relationships/hyperlink" Target="https://rnd.hingehealth.com/blog/cutting-latency-by-up-to-15-percent"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everex.kr/ko/news?year=2025" TargetMode="External"/><Relationship Id="rId3" Type="http://schemas.openxmlformats.org/officeDocument/2006/relationships/hyperlink" Target="https://www.everex.kr/"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ir.hingehealth.com/news/news-details/2026/Hinge-Health-reports-fourth-quarter-and-full-year-2025-financial-results/default.aspx"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eveloper.nvidia.com/embedded/jetson-nano" TargetMode="External"/><Relationship Id="rId3" Type="http://schemas.openxmlformats.org/officeDocument/2006/relationships/hyperlink" Target="https://forums.developer.nvidia.com/t/announcing-end-of-life-for-nvidia-jetpack-4-with-the-release-of-jetpack-4-6-6/314300" TargetMode="External"/><Relationship Id="rId4" Type="http://schemas.openxmlformats.org/officeDocument/2006/relationships/hyperlink" Target="https://openaccess.thecvf.com/content/CVPR2021/html/Yu_Lite-HRNet_A_Lightweight_High-Resolution_Network_CVPR_2021_paper.html" TargetMode="Externa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3390/app131910935"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ccess.thecvf.com/content/CVPR2021/html/Yu_Lite-HRNet_A_Lightweight_High-Resolution_Network_CVPR_2021_paper.html"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access.thecvf.com/content/CVPR2022/html/Wang_Lite_Pose_Efficient_Architecture_Design_for_2D_Human_Pose_Estimation_CVPR_2022_paper.html" TargetMode="Externa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3390/app131910935" TargetMode="External"/><Relationship Id="rId3" Type="http://schemas.openxmlformats.org/officeDocument/2006/relationships/hyperlink" Target="https://openaccess.thecvf.com/content/CVPR2021/html/Yu_Lite-HRNet_A_Lightweight_High-Resolution_Network_CVPR_2021_paper.html" TargetMode="External"/><Relationship Id="rId4" Type="http://schemas.openxmlformats.org/officeDocument/2006/relationships/hyperlink" Target="https://openaccess.thecvf.com/content/CVPR2022/html/Wang_Lite_Pose_Efficient_Architecture_Design_for_2D_Human_Pose_Estimation_CVPR_2022_paper.html" TargetMode="External"/><Relationship Id="rId5" Type="http://schemas.openxmlformats.org/officeDocument/2006/relationships/hyperlink" Target="https://developer.nvidia.com/embedded/jetson-nano" TargetMode="External"/><Relationship Id="rId6" Type="http://schemas.openxmlformats.org/officeDocument/2006/relationships/hyperlink" Target="https://forums.developer.nvidia.com/t/announcing-end-of-life-for-nvidia-jetpack-4-with-the-release-of-jetpack-4-6-6/314300" TargetMode="Externa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who.int/news/item/26-06-2024-nearly-1.8-billion-adults-at-risk-of-disease-from-not-doing-enough-physical-activity" TargetMode="External"/><Relationship Id="rId3" Type="http://schemas.openxmlformats.org/officeDocument/2006/relationships/hyperlink" Target="https://ir.hingehealth.com/news/news-details/2025/Hinge-Health-unveils-new-AI-powered-care-tools/default.aspx" TargetMode="External"/><Relationship Id="rId4" Type="http://schemas.openxmlformats.org/officeDocument/2006/relationships/hyperlink" Target="https://rnd.hingehealth.com/blog/cutting-latency-by-up-to-15-percent" TargetMode="External"/><Relationship Id="rId5" Type="http://schemas.openxmlformats.org/officeDocument/2006/relationships/hyperlink" Target="https://www.everex.kr/ko/news?year=2025" TargetMode="External"/><Relationship Id="rId6" Type="http://schemas.openxmlformats.org/officeDocument/2006/relationships/hyperlink" Target="https://www.everex.kr/" TargetMode="External"/><Relationship Id="rId7" Type="http://schemas.openxmlformats.org/officeDocument/2006/relationships/hyperlink" Target="https://ir.hingehealth.com/news/news-details/2026/Hinge-Health-reports-fourth-quarter-and-full-year-2025-financial-results/default.aspx" TargetMode="External"/><Relationship Id="rId8"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728"/>
        </a:solidFill>
        <a:effectLst/>
      </p:bgPr>
    </p:bg>
    <p:spTree>
      <p:nvGrpSpPr>
        <p:cNvPr id="1" name=""/>
        <p:cNvGrpSpPr/>
        <p:nvPr/>
      </p:nvGrpSpPr>
      <p:grpSpPr/>
      <p:sp>
        <p:nvSpPr>
          <p:cNvPr id="2" name="Rectangle 1"/>
          <p:cNvSpPr/>
          <p:nvPr/>
        </p:nvSpPr>
        <p:spPr>
          <a:xfrm>
            <a:off x="502920" y="411480"/>
            <a:ext cx="73152" cy="201168"/>
          </a:xfrm>
          <a:prstGeom prst="rect">
            <a:avLst/>
          </a:prstGeom>
          <a:solidFill>
            <a:srgbClr val="45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56616"/>
            <a:ext cx="10058400" cy="320040"/>
          </a:xfrm>
          <a:prstGeom prst="rect">
            <a:avLst/>
          </a:prstGeom>
          <a:noFill/>
        </p:spPr>
        <p:txBody>
          <a:bodyPr wrap="square" lIns="0" rIns="0" tIns="25400" bIns="0">
            <a:spAutoFit/>
          </a:bodyPr>
          <a:lstStyle/>
          <a:p>
            <a:pPr>
              <a:spcAft>
                <a:spcPts val="900"/>
              </a:spcAft>
              <a:defRPr sz="1100" b="1">
                <a:solidFill>
                  <a:srgbClr val="45D6BE"/>
                </a:solidFill>
                <a:latin typeface="Noto Sans CJK KR"/>
              </a:defRPr>
            </a:pPr>
            <a:r>
              <a:t>01 · COVER</a:t>
            </a:r>
          </a:p>
        </p:txBody>
      </p:sp>
      <p:sp>
        <p:nvSpPr>
          <p:cNvPr id="4" name="TextBox 3"/>
          <p:cNvSpPr txBox="1"/>
          <p:nvPr/>
        </p:nvSpPr>
        <p:spPr>
          <a:xfrm>
            <a:off x="594360" y="886968"/>
            <a:ext cx="10972800" cy="960120"/>
          </a:xfrm>
          <a:prstGeom prst="rect">
            <a:avLst/>
          </a:prstGeom>
          <a:noFill/>
        </p:spPr>
        <p:txBody>
          <a:bodyPr wrap="square" lIns="0" rIns="0" tIns="25400" bIns="0">
            <a:spAutoFit/>
          </a:bodyPr>
          <a:lstStyle/>
          <a:p>
            <a:pPr>
              <a:spcAft>
                <a:spcPts val="900"/>
              </a:spcAft>
              <a:defRPr sz="2800" b="1">
                <a:solidFill>
                  <a:srgbClr val="F5F7FC"/>
                </a:solidFill>
                <a:latin typeface="Noto Sans CJK KR"/>
              </a:defRPr>
            </a:pPr>
            <a:r>
              <a:t>Jetson Nano 4GB 기반</a:t>
            </a:r>
          </a:p>
          <a:p>
            <a:pPr>
              <a:spcAft>
                <a:spcPts val="900"/>
              </a:spcAft>
              <a:defRPr sz="2800" b="1">
                <a:solidFill>
                  <a:srgbClr val="F5F7FC"/>
                </a:solidFill>
                <a:latin typeface="Noto Sans CJK KR"/>
              </a:defRPr>
            </a:pPr>
            <a:r>
              <a:t>개인화 자세 교정 지원 시스템</a:t>
            </a:r>
          </a:p>
        </p:txBody>
      </p:sp>
      <p:sp>
        <p:nvSpPr>
          <p:cNvPr id="5" name="TextBox 4"/>
          <p:cNvSpPr txBox="1"/>
          <p:nvPr/>
        </p:nvSpPr>
        <p:spPr>
          <a:xfrm>
            <a:off x="594360" y="1865376"/>
            <a:ext cx="10972800" cy="694944"/>
          </a:xfrm>
          <a:prstGeom prst="rect">
            <a:avLst/>
          </a:prstGeom>
          <a:noFill/>
        </p:spPr>
        <p:txBody>
          <a:bodyPr wrap="square" lIns="0" rIns="0" tIns="25400" bIns="0">
            <a:spAutoFit/>
          </a:bodyPr>
          <a:lstStyle/>
          <a:p>
            <a:pPr>
              <a:spcAft>
                <a:spcPts val="900"/>
              </a:spcAft>
              <a:defRPr sz="1500" b="0">
                <a:solidFill>
                  <a:srgbClr val="ADBBD0"/>
                </a:solidFill>
                <a:latin typeface="Noto Sans CJK KR"/>
              </a:defRPr>
            </a:pPr>
            <a:r>
              <a:t>경량 딥러닝으로 전방머리자세와 상체 기울어짐 감지</a:t>
            </a:r>
          </a:p>
        </p:txBody>
      </p:sp>
      <p:sp>
        <p:nvSpPr>
          <p:cNvPr id="6" name="TextBox 5"/>
          <p:cNvSpPr txBox="1"/>
          <p:nvPr/>
        </p:nvSpPr>
        <p:spPr>
          <a:xfrm>
            <a:off x="11064240" y="6455664"/>
            <a:ext cx="548640" cy="228600"/>
          </a:xfrm>
          <a:prstGeom prst="rect">
            <a:avLst/>
          </a:prstGeom>
          <a:noFill/>
        </p:spPr>
        <p:txBody>
          <a:bodyPr wrap="square" lIns="0" rIns="0" tIns="25400" bIns="0">
            <a:spAutoFit/>
          </a:bodyPr>
          <a:lstStyle/>
          <a:p>
            <a:pPr>
              <a:spcAft>
                <a:spcPts val="900"/>
              </a:spcAft>
              <a:defRPr sz="1000" b="0">
                <a:solidFill>
                  <a:srgbClr val="ADBBD0"/>
                </a:solidFill>
                <a:latin typeface="Noto Sans CJK KR"/>
              </a:defRPr>
            </a:pPr>
            <a:r>
              <a:t>01</a:t>
            </a:r>
          </a:p>
        </p:txBody>
      </p:sp>
      <p:sp>
        <p:nvSpPr>
          <p:cNvPr id="7" name="TextBox 6"/>
          <p:cNvSpPr txBox="1"/>
          <p:nvPr/>
        </p:nvSpPr>
        <p:spPr>
          <a:xfrm>
            <a:off x="640080" y="2971800"/>
            <a:ext cx="9144000" cy="310896"/>
          </a:xfrm>
          <a:prstGeom prst="rect">
            <a:avLst/>
          </a:prstGeom>
          <a:noFill/>
        </p:spPr>
        <p:txBody>
          <a:bodyPr wrap="square" lIns="0" rIns="0" tIns="25400" bIns="0">
            <a:spAutoFit/>
          </a:bodyPr>
          <a:lstStyle/>
          <a:p>
            <a:pPr>
              <a:spcAft>
                <a:spcPts val="900"/>
              </a:spcAft>
              <a:defRPr sz="1400" b="1">
                <a:solidFill>
                  <a:srgbClr val="45D6BE"/>
                </a:solidFill>
                <a:latin typeface="Noto Sans CJK KR"/>
              </a:defRPr>
            </a:pPr>
            <a:r>
              <a:t>학과 · 학번 · 이름</a:t>
            </a:r>
          </a:p>
        </p:txBody>
      </p:sp>
      <p:sp>
        <p:nvSpPr>
          <p:cNvPr id="8" name="TextBox 7"/>
          <p:cNvSpPr txBox="1"/>
          <p:nvPr/>
        </p:nvSpPr>
        <p:spPr>
          <a:xfrm>
            <a:off x="640080" y="3346704"/>
            <a:ext cx="10058400" cy="457200"/>
          </a:xfrm>
          <a:prstGeom prst="rect">
            <a:avLst/>
          </a:prstGeom>
          <a:noFill/>
        </p:spPr>
        <p:txBody>
          <a:bodyPr wrap="square" lIns="0" rIns="0" tIns="25400" bIns="0">
            <a:spAutoFit/>
          </a:bodyPr>
          <a:lstStyle/>
          <a:p>
            <a:pPr>
              <a:spcAft>
                <a:spcPts val="900"/>
              </a:spcAft>
              <a:defRPr sz="2000" b="0">
                <a:solidFill>
                  <a:srgbClr val="F5F7FC"/>
                </a:solidFill>
                <a:latin typeface="Noto Sans CJK KR"/>
              </a:defRPr>
            </a:pPr>
            <a:r>
              <a:t>[학과 입력]  /  [학번 입력]  /  [이름 입력]</a:t>
            </a:r>
          </a:p>
        </p:txBody>
      </p:sp>
      <p:sp>
        <p:nvSpPr>
          <p:cNvPr id="9" name="TextBox 8"/>
          <p:cNvSpPr txBox="1"/>
          <p:nvPr/>
        </p:nvSpPr>
        <p:spPr>
          <a:xfrm>
            <a:off x="640080" y="3950208"/>
            <a:ext cx="9144000" cy="310896"/>
          </a:xfrm>
          <a:prstGeom prst="rect">
            <a:avLst/>
          </a:prstGeom>
          <a:noFill/>
        </p:spPr>
        <p:txBody>
          <a:bodyPr wrap="square" lIns="0" rIns="0" tIns="25400" bIns="0">
            <a:spAutoFit/>
          </a:bodyPr>
          <a:lstStyle/>
          <a:p>
            <a:pPr>
              <a:spcAft>
                <a:spcPts val="900"/>
              </a:spcAft>
              <a:defRPr sz="1400" b="1">
                <a:solidFill>
                  <a:srgbClr val="45D6BE"/>
                </a:solidFill>
                <a:latin typeface="Noto Sans CJK KR"/>
              </a:defRPr>
            </a:pPr>
            <a:r>
              <a:t>팀 · 과목</a:t>
            </a:r>
          </a:p>
        </p:txBody>
      </p:sp>
      <p:sp>
        <p:nvSpPr>
          <p:cNvPr id="10" name="TextBox 9"/>
          <p:cNvSpPr txBox="1"/>
          <p:nvPr/>
        </p:nvSpPr>
        <p:spPr>
          <a:xfrm>
            <a:off x="640080" y="4325112"/>
            <a:ext cx="10058400" cy="457200"/>
          </a:xfrm>
          <a:prstGeom prst="rect">
            <a:avLst/>
          </a:prstGeom>
          <a:noFill/>
        </p:spPr>
        <p:txBody>
          <a:bodyPr wrap="square" lIns="0" rIns="0" tIns="25400" bIns="0">
            <a:spAutoFit/>
          </a:bodyPr>
          <a:lstStyle/>
          <a:p>
            <a:pPr>
              <a:spcAft>
                <a:spcPts val="900"/>
              </a:spcAft>
              <a:defRPr sz="2000" b="0">
                <a:solidFill>
                  <a:srgbClr val="F5F7FC"/>
                </a:solidFill>
                <a:latin typeface="Noto Sans CJK KR"/>
              </a:defRPr>
            </a:pPr>
            <a:r>
              <a:t>[팀명 입력]  /  [과목명 입력]</a:t>
            </a:r>
          </a:p>
        </p:txBody>
      </p:sp>
      <p:sp>
        <p:nvSpPr>
          <p:cNvPr id="11" name="Rectangle 10"/>
          <p:cNvSpPr/>
          <p:nvPr/>
        </p:nvSpPr>
        <p:spPr>
          <a:xfrm>
            <a:off x="10698480" y="3063240"/>
            <a:ext cx="182880" cy="2103120"/>
          </a:xfrm>
          <a:prstGeom prst="rect">
            <a:avLst/>
          </a:prstGeom>
          <a:solidFill>
            <a:srgbClr val="45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5943600"/>
            <a:ext cx="11000232" cy="457200"/>
          </a:xfrm>
          <a:prstGeom prst="rect">
            <a:avLst/>
          </a:prstGeom>
          <a:noFill/>
        </p:spPr>
        <p:txBody>
          <a:bodyPr wrap="square" lIns="0" rIns="0" tIns="25400" bIns="0">
            <a:spAutoFit/>
          </a:bodyPr>
          <a:lstStyle/>
          <a:p>
            <a:pPr>
              <a:spcAft>
                <a:spcPts val="900"/>
              </a:spcAft>
              <a:defRPr sz="1300" b="0">
                <a:solidFill>
                  <a:srgbClr val="45D6BE"/>
                </a:solidFill>
                <a:latin typeface="Noto Sans CJK KR"/>
              </a:defRPr>
            </a:pPr>
            <a:r>
              <a:t>연구 제안서 · 문헌 조사 기준일 2026.09.13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728"/>
        </a:solidFill>
        <a:effectLst/>
      </p:bgPr>
    </p:bg>
    <p:spTree>
      <p:nvGrpSpPr>
        <p:cNvPr id="1" name=""/>
        <p:cNvGrpSpPr/>
        <p:nvPr/>
      </p:nvGrpSpPr>
      <p:grpSpPr/>
      <p:sp>
        <p:nvSpPr>
          <p:cNvPr id="2" name="Rectangle 1"/>
          <p:cNvSpPr/>
          <p:nvPr/>
        </p:nvSpPr>
        <p:spPr>
          <a:xfrm>
            <a:off x="502920" y="411480"/>
            <a:ext cx="73152" cy="201168"/>
          </a:xfrm>
          <a:prstGeom prst="rect">
            <a:avLst/>
          </a:prstGeom>
          <a:solidFill>
            <a:srgbClr val="45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56616"/>
            <a:ext cx="10058400" cy="320040"/>
          </a:xfrm>
          <a:prstGeom prst="rect">
            <a:avLst/>
          </a:prstGeom>
          <a:noFill/>
        </p:spPr>
        <p:txBody>
          <a:bodyPr wrap="square" lIns="0" rIns="0" tIns="25400" bIns="0">
            <a:spAutoFit/>
          </a:bodyPr>
          <a:lstStyle/>
          <a:p>
            <a:pPr>
              <a:spcAft>
                <a:spcPts val="900"/>
              </a:spcAft>
              <a:defRPr sz="1100" b="1">
                <a:solidFill>
                  <a:srgbClr val="45D6BE"/>
                </a:solidFill>
                <a:latin typeface="Noto Sans CJK KR"/>
              </a:defRPr>
            </a:pPr>
            <a:r>
              <a:t>02 · TEAM</a:t>
            </a:r>
          </a:p>
        </p:txBody>
      </p:sp>
      <p:sp>
        <p:nvSpPr>
          <p:cNvPr id="4" name="TextBox 3"/>
          <p:cNvSpPr txBox="1"/>
          <p:nvPr/>
        </p:nvSpPr>
        <p:spPr>
          <a:xfrm>
            <a:off x="594360" y="886968"/>
            <a:ext cx="10972800" cy="960120"/>
          </a:xfrm>
          <a:prstGeom prst="rect">
            <a:avLst/>
          </a:prstGeom>
          <a:noFill/>
        </p:spPr>
        <p:txBody>
          <a:bodyPr wrap="square" lIns="0" rIns="0" tIns="25400" bIns="0">
            <a:spAutoFit/>
          </a:bodyPr>
          <a:lstStyle/>
          <a:p>
            <a:pPr>
              <a:spcAft>
                <a:spcPts val="900"/>
              </a:spcAft>
              <a:defRPr sz="2800" b="1">
                <a:solidFill>
                  <a:srgbClr val="F5F7FC"/>
                </a:solidFill>
                <a:latin typeface="Noto Sans CJK KR"/>
              </a:defRPr>
            </a:pPr>
            <a:r>
              <a:t>팀 소개 및 역할</a:t>
            </a:r>
          </a:p>
        </p:txBody>
      </p:sp>
      <p:sp>
        <p:nvSpPr>
          <p:cNvPr id="5" name="TextBox 4"/>
          <p:cNvSpPr txBox="1"/>
          <p:nvPr/>
        </p:nvSpPr>
        <p:spPr>
          <a:xfrm>
            <a:off x="594360" y="1865376"/>
            <a:ext cx="10972800" cy="694944"/>
          </a:xfrm>
          <a:prstGeom prst="rect">
            <a:avLst/>
          </a:prstGeom>
          <a:noFill/>
        </p:spPr>
        <p:txBody>
          <a:bodyPr wrap="square" lIns="0" rIns="0" tIns="25400" bIns="0">
            <a:spAutoFit/>
          </a:bodyPr>
          <a:lstStyle/>
          <a:p>
            <a:pPr>
              <a:spcAft>
                <a:spcPts val="900"/>
              </a:spcAft>
              <a:defRPr sz="1500" b="0">
                <a:solidFill>
                  <a:srgbClr val="ADBBD0"/>
                </a:solidFill>
                <a:latin typeface="Noto Sans CJK KR"/>
              </a:defRPr>
            </a:pPr>
            <a:r>
              <a:t>팀 인원이 미정인 상태의 역할 배분안 — 실제 팀원에 맞춰 통합·조정</a:t>
            </a:r>
          </a:p>
        </p:txBody>
      </p:sp>
      <p:sp>
        <p:nvSpPr>
          <p:cNvPr id="6" name="TextBox 5"/>
          <p:cNvSpPr txBox="1"/>
          <p:nvPr/>
        </p:nvSpPr>
        <p:spPr>
          <a:xfrm>
            <a:off x="11064240" y="6455664"/>
            <a:ext cx="548640" cy="228600"/>
          </a:xfrm>
          <a:prstGeom prst="rect">
            <a:avLst/>
          </a:prstGeom>
          <a:noFill/>
        </p:spPr>
        <p:txBody>
          <a:bodyPr wrap="square" lIns="0" rIns="0" tIns="25400" bIns="0">
            <a:spAutoFit/>
          </a:bodyPr>
          <a:lstStyle/>
          <a:p>
            <a:pPr>
              <a:spcAft>
                <a:spcPts val="900"/>
              </a:spcAft>
              <a:defRPr sz="1000" b="0">
                <a:solidFill>
                  <a:srgbClr val="ADBBD0"/>
                </a:solidFill>
                <a:latin typeface="Noto Sans CJK KR"/>
              </a:defRPr>
            </a:pPr>
            <a:r>
              <a:t>02</a:t>
            </a:r>
          </a:p>
        </p:txBody>
      </p:sp>
      <p:sp>
        <p:nvSpPr>
          <p:cNvPr id="7" name="Rounded Rectangle 6"/>
          <p:cNvSpPr/>
          <p:nvPr/>
        </p:nvSpPr>
        <p:spPr>
          <a:xfrm>
            <a:off x="594360" y="2633472"/>
            <a:ext cx="5390388" cy="146304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779776"/>
            <a:ext cx="5024627"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팀원 A · [이름 / 학번]</a:t>
            </a:r>
          </a:p>
        </p:txBody>
      </p:sp>
      <p:sp>
        <p:nvSpPr>
          <p:cNvPr id="9" name="TextBox 8"/>
          <p:cNvSpPr txBox="1"/>
          <p:nvPr/>
        </p:nvSpPr>
        <p:spPr>
          <a:xfrm>
            <a:off x="777240" y="3273552"/>
            <a:ext cx="5024627" cy="758952"/>
          </a:xfrm>
          <a:prstGeom prst="rect">
            <a:avLst/>
          </a:prstGeom>
          <a:noFill/>
        </p:spPr>
        <p:txBody>
          <a:bodyPr wrap="square" lIns="0" rIns="0" tIns="25400" bIns="0">
            <a:spAutoFit/>
          </a:bodyPr>
          <a:lstStyle/>
          <a:p>
            <a:pPr>
              <a:spcAft>
                <a:spcPts val="300"/>
              </a:spcAft>
              <a:defRPr sz="1500" b="0">
                <a:solidFill>
                  <a:srgbClr val="F5F7FC"/>
                </a:solidFill>
                <a:latin typeface="Noto Sans CJK KR"/>
              </a:defRPr>
            </a:pPr>
            <a:r>
              <a:t>기획·문헌 조사</a:t>
            </a:r>
          </a:p>
          <a:p>
            <a:pPr>
              <a:spcAft>
                <a:spcPts val="300"/>
              </a:spcAft>
              <a:defRPr sz="1500" b="0">
                <a:solidFill>
                  <a:srgbClr val="F5F7FC"/>
                </a:solidFill>
                <a:latin typeface="Noto Sans CJK KR"/>
              </a:defRPr>
            </a:pPr>
            <a:r>
              <a:t>연구 질문, 배경·시장 조사, 발표 자료 총괄</a:t>
            </a:r>
          </a:p>
        </p:txBody>
      </p:sp>
      <p:sp>
        <p:nvSpPr>
          <p:cNvPr id="10" name="Rounded Rectangle 9"/>
          <p:cNvSpPr/>
          <p:nvPr/>
        </p:nvSpPr>
        <p:spPr>
          <a:xfrm>
            <a:off x="6204204" y="2633472"/>
            <a:ext cx="5390388" cy="146304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7084" y="2779776"/>
            <a:ext cx="5024627"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팀원 B · [이름 / 학번]</a:t>
            </a:r>
          </a:p>
        </p:txBody>
      </p:sp>
      <p:sp>
        <p:nvSpPr>
          <p:cNvPr id="12" name="TextBox 11"/>
          <p:cNvSpPr txBox="1"/>
          <p:nvPr/>
        </p:nvSpPr>
        <p:spPr>
          <a:xfrm>
            <a:off x="6387084" y="3273552"/>
            <a:ext cx="5024627" cy="758952"/>
          </a:xfrm>
          <a:prstGeom prst="rect">
            <a:avLst/>
          </a:prstGeom>
          <a:noFill/>
        </p:spPr>
        <p:txBody>
          <a:bodyPr wrap="square" lIns="0" rIns="0" tIns="25400" bIns="0">
            <a:spAutoFit/>
          </a:bodyPr>
          <a:lstStyle/>
          <a:p>
            <a:pPr>
              <a:spcAft>
                <a:spcPts val="300"/>
              </a:spcAft>
              <a:defRPr sz="1500" b="0">
                <a:solidFill>
                  <a:srgbClr val="F5F7FC"/>
                </a:solidFill>
                <a:latin typeface="Noto Sans CJK KR"/>
              </a:defRPr>
            </a:pPr>
            <a:r>
              <a:t>Computer Vision</a:t>
            </a:r>
          </a:p>
          <a:p>
            <a:pPr>
              <a:spcAft>
                <a:spcPts val="300"/>
              </a:spcAft>
              <a:defRPr sz="1500" b="0">
                <a:solidFill>
                  <a:srgbClr val="F5F7FC"/>
                </a:solidFill>
                <a:latin typeface="Noto Sans CJK KR"/>
              </a:defRPr>
            </a:pPr>
            <a:r>
              <a:t>데이터 수집·라벨링, 경량 자세 추정, 개인화 판단</a:t>
            </a:r>
          </a:p>
        </p:txBody>
      </p:sp>
      <p:sp>
        <p:nvSpPr>
          <p:cNvPr id="13" name="Rounded Rectangle 12"/>
          <p:cNvSpPr/>
          <p:nvPr/>
        </p:nvSpPr>
        <p:spPr>
          <a:xfrm>
            <a:off x="594360" y="4233672"/>
            <a:ext cx="5390388" cy="146304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379976"/>
            <a:ext cx="5024627"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팀원 C · [이름 / 학번]</a:t>
            </a:r>
          </a:p>
        </p:txBody>
      </p:sp>
      <p:sp>
        <p:nvSpPr>
          <p:cNvPr id="15" name="TextBox 14"/>
          <p:cNvSpPr txBox="1"/>
          <p:nvPr/>
        </p:nvSpPr>
        <p:spPr>
          <a:xfrm>
            <a:off x="777240" y="4873752"/>
            <a:ext cx="5024627" cy="758952"/>
          </a:xfrm>
          <a:prstGeom prst="rect">
            <a:avLst/>
          </a:prstGeom>
          <a:noFill/>
        </p:spPr>
        <p:txBody>
          <a:bodyPr wrap="square" lIns="0" rIns="0" tIns="25400" bIns="0">
            <a:spAutoFit/>
          </a:bodyPr>
          <a:lstStyle/>
          <a:p>
            <a:pPr>
              <a:spcAft>
                <a:spcPts val="300"/>
              </a:spcAft>
              <a:defRPr sz="1500" b="0">
                <a:solidFill>
                  <a:srgbClr val="F5F7FC"/>
                </a:solidFill>
                <a:latin typeface="Noto Sans CJK KR"/>
              </a:defRPr>
            </a:pPr>
            <a:r>
              <a:t>Computer Science</a:t>
            </a:r>
          </a:p>
          <a:p>
            <a:pPr>
              <a:spcAft>
                <a:spcPts val="300"/>
              </a:spcAft>
              <a:defRPr sz="1500" b="0">
                <a:solidFill>
                  <a:srgbClr val="F5F7FC"/>
                </a:solidFill>
                <a:latin typeface="Noto Sans CJK KR"/>
              </a:defRPr>
            </a:pPr>
            <a:r>
              <a:t>Nano 배포, 메모리·지연 최적화, 로컬 기록</a:t>
            </a:r>
          </a:p>
        </p:txBody>
      </p:sp>
      <p:sp>
        <p:nvSpPr>
          <p:cNvPr id="16" name="Rounded Rectangle 15"/>
          <p:cNvSpPr/>
          <p:nvPr/>
        </p:nvSpPr>
        <p:spPr>
          <a:xfrm>
            <a:off x="6204204" y="4233672"/>
            <a:ext cx="5390388" cy="146304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7084" y="4379976"/>
            <a:ext cx="5024627"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팀원 D · [이름 / 학번]</a:t>
            </a:r>
          </a:p>
        </p:txBody>
      </p:sp>
      <p:sp>
        <p:nvSpPr>
          <p:cNvPr id="18" name="TextBox 17"/>
          <p:cNvSpPr txBox="1"/>
          <p:nvPr/>
        </p:nvSpPr>
        <p:spPr>
          <a:xfrm>
            <a:off x="6387084" y="4873752"/>
            <a:ext cx="5024627" cy="758952"/>
          </a:xfrm>
          <a:prstGeom prst="rect">
            <a:avLst/>
          </a:prstGeom>
          <a:noFill/>
        </p:spPr>
        <p:txBody>
          <a:bodyPr wrap="square" lIns="0" rIns="0" tIns="25400" bIns="0">
            <a:spAutoFit/>
          </a:bodyPr>
          <a:lstStyle/>
          <a:p>
            <a:pPr>
              <a:spcAft>
                <a:spcPts val="300"/>
              </a:spcAft>
              <a:defRPr sz="1500" b="0">
                <a:solidFill>
                  <a:srgbClr val="F5F7FC"/>
                </a:solidFill>
                <a:latin typeface="Noto Sans CJK KR"/>
              </a:defRPr>
            </a:pPr>
            <a:r>
              <a:t>평가·사용자 경험</a:t>
            </a:r>
          </a:p>
          <a:p>
            <a:pPr>
              <a:spcAft>
                <a:spcPts val="300"/>
              </a:spcAft>
              <a:defRPr sz="1500" b="0">
                <a:solidFill>
                  <a:srgbClr val="F5F7FC"/>
                </a:solidFill>
                <a:latin typeface="Noto Sans CJK KR"/>
              </a:defRPr>
            </a:pPr>
            <a:r>
              <a:t>실험 설계, 오경보·사용성 평가, 피드백 화면</a:t>
            </a:r>
          </a:p>
        </p:txBody>
      </p:sp>
      <p:sp>
        <p:nvSpPr>
          <p:cNvPr id="19" name="TextBox 18"/>
          <p:cNvSpPr txBox="1"/>
          <p:nvPr/>
        </p:nvSpPr>
        <p:spPr>
          <a:xfrm>
            <a:off x="594360" y="5943600"/>
            <a:ext cx="11000232" cy="457200"/>
          </a:xfrm>
          <a:prstGeom prst="rect">
            <a:avLst/>
          </a:prstGeom>
          <a:noFill/>
        </p:spPr>
        <p:txBody>
          <a:bodyPr wrap="square" lIns="0" rIns="0" tIns="25400" bIns="0">
            <a:spAutoFit/>
          </a:bodyPr>
          <a:lstStyle/>
          <a:p>
            <a:pPr>
              <a:spcAft>
                <a:spcPts val="900"/>
              </a:spcAft>
              <a:defRPr sz="1300" b="0">
                <a:solidFill>
                  <a:srgbClr val="45D6BE"/>
                </a:solidFill>
                <a:latin typeface="Noto Sans CJK KR"/>
              </a:defRPr>
            </a:pPr>
            <a:r>
              <a:t>공동 산출물: 동작 시제품 + 사용자 분리 평가 + 재현 가능한 실행 설정</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728"/>
        </a:solidFill>
        <a:effectLst/>
      </p:bgPr>
    </p:bg>
    <p:spTree>
      <p:nvGrpSpPr>
        <p:cNvPr id="1" name=""/>
        <p:cNvGrpSpPr/>
        <p:nvPr/>
      </p:nvGrpSpPr>
      <p:grpSpPr/>
      <p:sp>
        <p:nvSpPr>
          <p:cNvPr id="2" name="Rectangle 1"/>
          <p:cNvSpPr/>
          <p:nvPr/>
        </p:nvSpPr>
        <p:spPr>
          <a:xfrm>
            <a:off x="502920" y="411480"/>
            <a:ext cx="73152" cy="201168"/>
          </a:xfrm>
          <a:prstGeom prst="rect">
            <a:avLst/>
          </a:prstGeom>
          <a:solidFill>
            <a:srgbClr val="45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56616"/>
            <a:ext cx="10058400" cy="320040"/>
          </a:xfrm>
          <a:prstGeom prst="rect">
            <a:avLst/>
          </a:prstGeom>
          <a:noFill/>
        </p:spPr>
        <p:txBody>
          <a:bodyPr wrap="square" lIns="0" rIns="0" tIns="25400" bIns="0">
            <a:spAutoFit/>
          </a:bodyPr>
          <a:lstStyle/>
          <a:p>
            <a:pPr>
              <a:spcAft>
                <a:spcPts val="900"/>
              </a:spcAft>
              <a:defRPr sz="1100" b="1">
                <a:solidFill>
                  <a:srgbClr val="45D6BE"/>
                </a:solidFill>
                <a:latin typeface="Noto Sans CJK KR"/>
              </a:defRPr>
            </a:pPr>
            <a:r>
              <a:t>03 · CONTENTS</a:t>
            </a:r>
          </a:p>
        </p:txBody>
      </p:sp>
      <p:sp>
        <p:nvSpPr>
          <p:cNvPr id="4" name="TextBox 3"/>
          <p:cNvSpPr txBox="1"/>
          <p:nvPr/>
        </p:nvSpPr>
        <p:spPr>
          <a:xfrm>
            <a:off x="594360" y="886968"/>
            <a:ext cx="10972800" cy="960120"/>
          </a:xfrm>
          <a:prstGeom prst="rect">
            <a:avLst/>
          </a:prstGeom>
          <a:noFill/>
        </p:spPr>
        <p:txBody>
          <a:bodyPr wrap="square" lIns="0" rIns="0" tIns="25400" bIns="0">
            <a:spAutoFit/>
          </a:bodyPr>
          <a:lstStyle/>
          <a:p>
            <a:pPr>
              <a:spcAft>
                <a:spcPts val="900"/>
              </a:spcAft>
              <a:defRPr sz="2800" b="1">
                <a:solidFill>
                  <a:srgbClr val="F5F7FC"/>
                </a:solidFill>
                <a:latin typeface="Noto Sans CJK KR"/>
              </a:defRPr>
            </a:pPr>
            <a:r>
              <a:t>목차</a:t>
            </a:r>
          </a:p>
        </p:txBody>
      </p:sp>
      <p:sp>
        <p:nvSpPr>
          <p:cNvPr id="5" name="TextBox 4"/>
          <p:cNvSpPr txBox="1"/>
          <p:nvPr/>
        </p:nvSpPr>
        <p:spPr>
          <a:xfrm>
            <a:off x="594360" y="1865376"/>
            <a:ext cx="10972800" cy="694944"/>
          </a:xfrm>
          <a:prstGeom prst="rect">
            <a:avLst/>
          </a:prstGeom>
          <a:noFill/>
        </p:spPr>
        <p:txBody>
          <a:bodyPr wrap="square" lIns="0" rIns="0" tIns="25400" bIns="0">
            <a:spAutoFit/>
          </a:bodyPr>
          <a:lstStyle/>
          <a:p>
            <a:pPr>
              <a:spcAft>
                <a:spcPts val="900"/>
              </a:spcAft>
              <a:defRPr sz="1500" b="0">
                <a:solidFill>
                  <a:srgbClr val="ADBBD0"/>
                </a:solidFill>
                <a:latin typeface="Noto Sans CJK KR"/>
              </a:defRPr>
            </a:pPr>
            <a:r>
              <a:t>과제의 1–6항목을 본문에 반영하고, 논문·초록은 부록으로 구성</a:t>
            </a:r>
          </a:p>
        </p:txBody>
      </p:sp>
      <p:sp>
        <p:nvSpPr>
          <p:cNvPr id="6" name="TextBox 5"/>
          <p:cNvSpPr txBox="1"/>
          <p:nvPr/>
        </p:nvSpPr>
        <p:spPr>
          <a:xfrm>
            <a:off x="11064240" y="6455664"/>
            <a:ext cx="548640" cy="228600"/>
          </a:xfrm>
          <a:prstGeom prst="rect">
            <a:avLst/>
          </a:prstGeom>
          <a:noFill/>
        </p:spPr>
        <p:txBody>
          <a:bodyPr wrap="square" lIns="0" rIns="0" tIns="25400" bIns="0">
            <a:spAutoFit/>
          </a:bodyPr>
          <a:lstStyle/>
          <a:p>
            <a:pPr>
              <a:spcAft>
                <a:spcPts val="900"/>
              </a:spcAft>
              <a:defRPr sz="1000" b="0">
                <a:solidFill>
                  <a:srgbClr val="ADBBD0"/>
                </a:solidFill>
                <a:latin typeface="Noto Sans CJK KR"/>
              </a:defRPr>
            </a:pPr>
            <a:r>
              <a:t>03</a:t>
            </a:r>
          </a:p>
        </p:txBody>
      </p:sp>
      <p:sp>
        <p:nvSpPr>
          <p:cNvPr id="7" name="Rounded Rectangle 6"/>
          <p:cNvSpPr/>
          <p:nvPr/>
        </p:nvSpPr>
        <p:spPr>
          <a:xfrm>
            <a:off x="594360" y="2633472"/>
            <a:ext cx="5390388" cy="146304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779776"/>
            <a:ext cx="5024627"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01–03 · 시작</a:t>
            </a:r>
          </a:p>
        </p:txBody>
      </p:sp>
      <p:sp>
        <p:nvSpPr>
          <p:cNvPr id="9" name="TextBox 8"/>
          <p:cNvSpPr txBox="1"/>
          <p:nvPr/>
        </p:nvSpPr>
        <p:spPr>
          <a:xfrm>
            <a:off x="777240" y="3273552"/>
            <a:ext cx="5024627" cy="758952"/>
          </a:xfrm>
          <a:prstGeom prst="rect">
            <a:avLst/>
          </a:prstGeom>
          <a:noFill/>
        </p:spPr>
        <p:txBody>
          <a:bodyPr wrap="square" lIns="0" rIns="0" tIns="25400" bIns="0">
            <a:spAutoFit/>
          </a:bodyPr>
          <a:lstStyle/>
          <a:p>
            <a:pPr>
              <a:spcAft>
                <a:spcPts val="300"/>
              </a:spcAft>
              <a:defRPr sz="1500" b="0">
                <a:solidFill>
                  <a:srgbClr val="F5F7FC"/>
                </a:solidFill>
                <a:latin typeface="Noto Sans CJK KR"/>
              </a:defRPr>
            </a:pPr>
            <a:r>
              <a:t>표지</a:t>
            </a:r>
          </a:p>
          <a:p>
            <a:pPr>
              <a:spcAft>
                <a:spcPts val="300"/>
              </a:spcAft>
              <a:defRPr sz="1500" b="0">
                <a:solidFill>
                  <a:srgbClr val="F5F7FC"/>
                </a:solidFill>
                <a:latin typeface="Noto Sans CJK KR"/>
              </a:defRPr>
            </a:pPr>
            <a:r>
              <a:t>팀 소개 및 역할</a:t>
            </a:r>
          </a:p>
          <a:p>
            <a:pPr>
              <a:spcAft>
                <a:spcPts val="300"/>
              </a:spcAft>
              <a:defRPr sz="1500" b="0">
                <a:solidFill>
                  <a:srgbClr val="F5F7FC"/>
                </a:solidFill>
                <a:latin typeface="Noto Sans CJK KR"/>
              </a:defRPr>
            </a:pPr>
            <a:r>
              <a:t>목차</a:t>
            </a:r>
          </a:p>
        </p:txBody>
      </p:sp>
      <p:sp>
        <p:nvSpPr>
          <p:cNvPr id="10" name="Rounded Rectangle 9"/>
          <p:cNvSpPr/>
          <p:nvPr/>
        </p:nvSpPr>
        <p:spPr>
          <a:xfrm>
            <a:off x="6204204" y="2633472"/>
            <a:ext cx="5390388" cy="146304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7084" y="2779776"/>
            <a:ext cx="5024627"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04 · 관련 주제</a:t>
            </a:r>
          </a:p>
        </p:txBody>
      </p:sp>
      <p:sp>
        <p:nvSpPr>
          <p:cNvPr id="12" name="TextBox 11"/>
          <p:cNvSpPr txBox="1"/>
          <p:nvPr/>
        </p:nvSpPr>
        <p:spPr>
          <a:xfrm>
            <a:off x="6387084" y="3273552"/>
            <a:ext cx="5024627" cy="758952"/>
          </a:xfrm>
          <a:prstGeom prst="rect">
            <a:avLst/>
          </a:prstGeom>
          <a:noFill/>
        </p:spPr>
        <p:txBody>
          <a:bodyPr wrap="square" lIns="0" rIns="0" tIns="25400" bIns="0">
            <a:spAutoFit/>
          </a:bodyPr>
          <a:lstStyle/>
          <a:p>
            <a:pPr>
              <a:spcAft>
                <a:spcPts val="300"/>
              </a:spcAft>
              <a:defRPr sz="1500" b="0">
                <a:solidFill>
                  <a:srgbClr val="F5F7FC"/>
                </a:solidFill>
                <a:latin typeface="Noto Sans CJK KR"/>
              </a:defRPr>
            </a:pPr>
            <a:r>
              <a:t>대분류 / 중분류 / 소분류</a:t>
            </a:r>
          </a:p>
          <a:p>
            <a:pPr>
              <a:spcAft>
                <a:spcPts val="300"/>
              </a:spcAft>
              <a:defRPr sz="1500" b="0">
                <a:solidFill>
                  <a:srgbClr val="F5F7FC"/>
                </a:solidFill>
                <a:latin typeface="Noto Sans CJK KR"/>
              </a:defRPr>
            </a:pPr>
            <a:r>
              <a:t>대상 사용자와 적용 환경</a:t>
            </a:r>
          </a:p>
        </p:txBody>
      </p:sp>
      <p:sp>
        <p:nvSpPr>
          <p:cNvPr id="13" name="Rounded Rectangle 12"/>
          <p:cNvSpPr/>
          <p:nvPr/>
        </p:nvSpPr>
        <p:spPr>
          <a:xfrm>
            <a:off x="594360" y="4233672"/>
            <a:ext cx="5390388" cy="146304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379976"/>
            <a:ext cx="5024627"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05 · Background</a:t>
            </a:r>
          </a:p>
        </p:txBody>
      </p:sp>
      <p:sp>
        <p:nvSpPr>
          <p:cNvPr id="15" name="TextBox 14"/>
          <p:cNvSpPr txBox="1"/>
          <p:nvPr/>
        </p:nvSpPr>
        <p:spPr>
          <a:xfrm>
            <a:off x="777240" y="4873752"/>
            <a:ext cx="5024627" cy="758952"/>
          </a:xfrm>
          <a:prstGeom prst="rect">
            <a:avLst/>
          </a:prstGeom>
          <a:noFill/>
        </p:spPr>
        <p:txBody>
          <a:bodyPr wrap="square" lIns="0" rIns="0" tIns="25400" bIns="0">
            <a:spAutoFit/>
          </a:bodyPr>
          <a:lstStyle/>
          <a:p>
            <a:pPr>
              <a:spcAft>
                <a:spcPts val="300"/>
              </a:spcAft>
              <a:defRPr sz="1500" b="0">
                <a:solidFill>
                  <a:srgbClr val="F5F7FC"/>
                </a:solidFill>
                <a:latin typeface="Noto Sans CJK KR"/>
              </a:defRPr>
            </a:pPr>
            <a:r>
              <a:t>연구 배경</a:t>
            </a:r>
          </a:p>
          <a:p>
            <a:pPr>
              <a:spcAft>
                <a:spcPts val="300"/>
              </a:spcAft>
              <a:defRPr sz="1500" b="0">
                <a:solidFill>
                  <a:srgbClr val="F5F7FC"/>
                </a:solidFill>
                <a:latin typeface="Noto Sans CJK KR"/>
              </a:defRPr>
            </a:pPr>
            <a:r>
              <a:t>2025–2026 기사·트렌드</a:t>
            </a:r>
          </a:p>
        </p:txBody>
      </p:sp>
      <p:sp>
        <p:nvSpPr>
          <p:cNvPr id="16" name="Rounded Rectangle 15"/>
          <p:cNvSpPr/>
          <p:nvPr/>
        </p:nvSpPr>
        <p:spPr>
          <a:xfrm>
            <a:off x="6204204" y="4233672"/>
            <a:ext cx="5390388" cy="146304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7084" y="4379976"/>
            <a:ext cx="5024627"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06 · Motivation</a:t>
            </a:r>
          </a:p>
        </p:txBody>
      </p:sp>
      <p:sp>
        <p:nvSpPr>
          <p:cNvPr id="18" name="TextBox 17"/>
          <p:cNvSpPr txBox="1"/>
          <p:nvPr/>
        </p:nvSpPr>
        <p:spPr>
          <a:xfrm>
            <a:off x="6387084" y="4873752"/>
            <a:ext cx="5024627" cy="758952"/>
          </a:xfrm>
          <a:prstGeom prst="rect">
            <a:avLst/>
          </a:prstGeom>
          <a:noFill/>
        </p:spPr>
        <p:txBody>
          <a:bodyPr wrap="square" lIns="0" rIns="0" tIns="25400" bIns="0">
            <a:spAutoFit/>
          </a:bodyPr>
          <a:lstStyle/>
          <a:p>
            <a:pPr>
              <a:spcAft>
                <a:spcPts val="300"/>
              </a:spcAft>
              <a:defRPr sz="1500" b="0">
                <a:solidFill>
                  <a:srgbClr val="F5F7FC"/>
                </a:solidFill>
                <a:latin typeface="Noto Sans CJK KR"/>
              </a:defRPr>
            </a:pPr>
            <a:r>
              <a:t>국내 시장성 및 도입 필요성</a:t>
            </a:r>
          </a:p>
          <a:p>
            <a:pPr>
              <a:spcAft>
                <a:spcPts val="300"/>
              </a:spcAft>
              <a:defRPr sz="1500" b="0">
                <a:solidFill>
                  <a:srgbClr val="F5F7FC"/>
                </a:solidFill>
                <a:latin typeface="Noto Sans CJK KR"/>
              </a:defRPr>
            </a:pPr>
            <a:r>
              <a:t>해외 시장성 및 구매자 관점</a:t>
            </a:r>
          </a:p>
        </p:txBody>
      </p:sp>
      <p:sp>
        <p:nvSpPr>
          <p:cNvPr id="19" name="TextBox 18"/>
          <p:cNvSpPr txBox="1"/>
          <p:nvPr/>
        </p:nvSpPr>
        <p:spPr>
          <a:xfrm>
            <a:off x="594360" y="5943600"/>
            <a:ext cx="11000232" cy="457200"/>
          </a:xfrm>
          <a:prstGeom prst="rect">
            <a:avLst/>
          </a:prstGeom>
          <a:noFill/>
        </p:spPr>
        <p:txBody>
          <a:bodyPr wrap="square" lIns="0" rIns="0" tIns="25400" bIns="0">
            <a:spAutoFit/>
          </a:bodyPr>
          <a:lstStyle/>
          <a:p>
            <a:pPr>
              <a:spcAft>
                <a:spcPts val="900"/>
              </a:spcAft>
              <a:defRPr sz="1300" b="0">
                <a:solidFill>
                  <a:srgbClr val="45D6BE"/>
                </a:solidFill>
                <a:latin typeface="Noto Sans CJK KR"/>
              </a:defRPr>
            </a:pPr>
            <a:r>
              <a:t>부록: CV·CS 기여 / 4GB 구현 계획 / 논문 3편 / 검증 계획 / 초록 / 참고문헌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728"/>
        </a:solidFill>
        <a:effectLst/>
      </p:bgPr>
    </p:bg>
    <p:spTree>
      <p:nvGrpSpPr>
        <p:cNvPr id="1" name=""/>
        <p:cNvGrpSpPr/>
        <p:nvPr/>
      </p:nvGrpSpPr>
      <p:grpSpPr/>
      <p:sp>
        <p:nvSpPr>
          <p:cNvPr id="2" name="Rectangle 1"/>
          <p:cNvSpPr/>
          <p:nvPr/>
        </p:nvSpPr>
        <p:spPr>
          <a:xfrm>
            <a:off x="502920" y="411480"/>
            <a:ext cx="73152" cy="201168"/>
          </a:xfrm>
          <a:prstGeom prst="rect">
            <a:avLst/>
          </a:prstGeom>
          <a:solidFill>
            <a:srgbClr val="45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56616"/>
            <a:ext cx="10058400" cy="320040"/>
          </a:xfrm>
          <a:prstGeom prst="rect">
            <a:avLst/>
          </a:prstGeom>
          <a:noFill/>
        </p:spPr>
        <p:txBody>
          <a:bodyPr wrap="square" lIns="0" rIns="0" tIns="25400" bIns="0">
            <a:spAutoFit/>
          </a:bodyPr>
          <a:lstStyle/>
          <a:p>
            <a:pPr>
              <a:spcAft>
                <a:spcPts val="900"/>
              </a:spcAft>
              <a:defRPr sz="1100" b="1">
                <a:solidFill>
                  <a:srgbClr val="45D6BE"/>
                </a:solidFill>
                <a:latin typeface="Noto Sans CJK KR"/>
              </a:defRPr>
            </a:pPr>
            <a:r>
              <a:t>04 · TOPIC</a:t>
            </a:r>
          </a:p>
        </p:txBody>
      </p:sp>
      <p:sp>
        <p:nvSpPr>
          <p:cNvPr id="4" name="TextBox 3"/>
          <p:cNvSpPr txBox="1"/>
          <p:nvPr/>
        </p:nvSpPr>
        <p:spPr>
          <a:xfrm>
            <a:off x="594360" y="886968"/>
            <a:ext cx="10972800" cy="960120"/>
          </a:xfrm>
          <a:prstGeom prst="rect">
            <a:avLst/>
          </a:prstGeom>
          <a:noFill/>
        </p:spPr>
        <p:txBody>
          <a:bodyPr wrap="square" lIns="0" rIns="0" tIns="25400" bIns="0">
            <a:spAutoFit/>
          </a:bodyPr>
          <a:lstStyle/>
          <a:p>
            <a:pPr>
              <a:spcAft>
                <a:spcPts val="900"/>
              </a:spcAft>
              <a:defRPr sz="2800" b="1">
                <a:solidFill>
                  <a:srgbClr val="F5F7FC"/>
                </a:solidFill>
                <a:latin typeface="Noto Sans CJK KR"/>
              </a:defRPr>
            </a:pPr>
            <a:r>
              <a:t>디지털 헬스 / 일상 자세 모니터링 / 개인화 교정 지원</a:t>
            </a:r>
          </a:p>
        </p:txBody>
      </p:sp>
      <p:sp>
        <p:nvSpPr>
          <p:cNvPr id="5" name="TextBox 4"/>
          <p:cNvSpPr txBox="1"/>
          <p:nvPr/>
        </p:nvSpPr>
        <p:spPr>
          <a:xfrm>
            <a:off x="594360" y="1865376"/>
            <a:ext cx="10972800" cy="694944"/>
          </a:xfrm>
          <a:prstGeom prst="rect">
            <a:avLst/>
          </a:prstGeom>
          <a:noFill/>
        </p:spPr>
        <p:txBody>
          <a:bodyPr wrap="square" lIns="0" rIns="0" tIns="25400" bIns="0">
            <a:spAutoFit/>
          </a:bodyPr>
          <a:lstStyle/>
          <a:p>
            <a:pPr>
              <a:spcAft>
                <a:spcPts val="900"/>
              </a:spcAft>
              <a:defRPr sz="1500" b="0">
                <a:solidFill>
                  <a:srgbClr val="ADBBD0"/>
                </a:solidFill>
                <a:latin typeface="Noto Sans CJK KR"/>
              </a:defRPr>
            </a:pPr>
            <a:r>
              <a:t>단일 사용자가 앉아 컴퓨터를 사용하는 환경부터 시작</a:t>
            </a:r>
          </a:p>
        </p:txBody>
      </p:sp>
      <p:sp>
        <p:nvSpPr>
          <p:cNvPr id="6" name="TextBox 5"/>
          <p:cNvSpPr txBox="1"/>
          <p:nvPr/>
        </p:nvSpPr>
        <p:spPr>
          <a:xfrm>
            <a:off x="11064240" y="6455664"/>
            <a:ext cx="548640" cy="228600"/>
          </a:xfrm>
          <a:prstGeom prst="rect">
            <a:avLst/>
          </a:prstGeom>
          <a:noFill/>
        </p:spPr>
        <p:txBody>
          <a:bodyPr wrap="square" lIns="0" rIns="0" tIns="25400" bIns="0">
            <a:spAutoFit/>
          </a:bodyPr>
          <a:lstStyle/>
          <a:p>
            <a:pPr>
              <a:spcAft>
                <a:spcPts val="900"/>
              </a:spcAft>
              <a:defRPr sz="1000" b="0">
                <a:solidFill>
                  <a:srgbClr val="ADBBD0"/>
                </a:solidFill>
                <a:latin typeface="Noto Sans CJK KR"/>
              </a:defRPr>
            </a:pPr>
            <a:r>
              <a:t>04</a:t>
            </a:r>
          </a:p>
        </p:txBody>
      </p:sp>
      <p:sp>
        <p:nvSpPr>
          <p:cNvPr id="7" name="Rounded Rectangle 6"/>
          <p:cNvSpPr/>
          <p:nvPr/>
        </p:nvSpPr>
        <p:spPr>
          <a:xfrm>
            <a:off x="594360"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대분류 · 디지털 헬스</a:t>
            </a:r>
          </a:p>
        </p:txBody>
      </p:sp>
      <p:sp>
        <p:nvSpPr>
          <p:cNvPr id="9" name="TextBox 8"/>
          <p:cNvSpPr txBox="1"/>
          <p:nvPr/>
        </p:nvSpPr>
        <p:spPr>
          <a:xfrm>
            <a:off x="777240"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일상 속 건강관리와 자기관리 지원</a:t>
            </a:r>
          </a:p>
        </p:txBody>
      </p:sp>
      <p:sp>
        <p:nvSpPr>
          <p:cNvPr id="10" name="Rounded Rectangle 9"/>
          <p:cNvSpPr/>
          <p:nvPr/>
        </p:nvSpPr>
        <p:spPr>
          <a:xfrm>
            <a:off x="4334256"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중분류 · 비접촉 자세 모니터링</a:t>
            </a:r>
          </a:p>
        </p:txBody>
      </p:sp>
      <p:sp>
        <p:nvSpPr>
          <p:cNvPr id="12" name="TextBox 11"/>
          <p:cNvSpPr txBox="1"/>
          <p:nvPr/>
        </p:nvSpPr>
        <p:spPr>
          <a:xfrm>
            <a:off x="4517136"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측면 RGB 카메라로 머리·상체 위치 변화 관찰</a:t>
            </a:r>
          </a:p>
        </p:txBody>
      </p:sp>
      <p:sp>
        <p:nvSpPr>
          <p:cNvPr id="13" name="Rounded Rectangle 12"/>
          <p:cNvSpPr/>
          <p:nvPr/>
        </p:nvSpPr>
        <p:spPr>
          <a:xfrm>
            <a:off x="8074152"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소분류 · 엣지 AI 자세 교정 지원</a:t>
            </a:r>
          </a:p>
        </p:txBody>
      </p:sp>
      <p:sp>
        <p:nvSpPr>
          <p:cNvPr id="15" name="TextBox 14"/>
          <p:cNvSpPr txBox="1"/>
          <p:nvPr/>
        </p:nvSpPr>
        <p:spPr>
          <a:xfrm>
            <a:off x="8257031"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Jetson Nano 4GB에서 전방머리자세와</a:t>
            </a:r>
          </a:p>
          <a:p>
            <a:pPr>
              <a:spcAft>
                <a:spcPts val="900"/>
              </a:spcAft>
              <a:defRPr sz="1700" b="0">
                <a:solidFill>
                  <a:srgbClr val="F5F7FC"/>
                </a:solidFill>
                <a:latin typeface="Noto Sans CJK KR"/>
              </a:defRPr>
            </a:pPr>
            <a:r>
              <a:t>상체 기울어짐을 감지하고 알림 제공</a:t>
            </a:r>
          </a:p>
        </p:txBody>
      </p:sp>
      <p:sp>
        <p:nvSpPr>
          <p:cNvPr id="16" name="TextBox 15"/>
          <p:cNvSpPr txBox="1"/>
          <p:nvPr/>
        </p:nvSpPr>
        <p:spPr>
          <a:xfrm>
            <a:off x="594360" y="5943600"/>
            <a:ext cx="11000232" cy="457200"/>
          </a:xfrm>
          <a:prstGeom prst="rect">
            <a:avLst/>
          </a:prstGeom>
          <a:noFill/>
        </p:spPr>
        <p:txBody>
          <a:bodyPr wrap="square" lIns="0" rIns="0" tIns="25400" bIns="0">
            <a:spAutoFit/>
          </a:bodyPr>
          <a:lstStyle/>
          <a:p>
            <a:pPr>
              <a:spcAft>
                <a:spcPts val="900"/>
              </a:spcAft>
              <a:defRPr sz="1300" b="0">
                <a:solidFill>
                  <a:srgbClr val="45D6BE"/>
                </a:solidFill>
                <a:latin typeface="Noto Sans CJK KR"/>
              </a:defRPr>
            </a:pPr>
            <a:r>
              <a:t>적용 범위: 자세 변화 인지와 행동 유도. 임상 진단이나 치료 효과는 별도 검증 대상.</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728"/>
        </a:solidFill>
        <a:effectLst/>
      </p:bgPr>
    </p:bg>
    <p:spTree>
      <p:nvGrpSpPr>
        <p:cNvPr id="1" name=""/>
        <p:cNvGrpSpPr/>
        <p:nvPr/>
      </p:nvGrpSpPr>
      <p:grpSpPr/>
      <p:sp>
        <p:nvSpPr>
          <p:cNvPr id="2" name="Rectangle 1"/>
          <p:cNvSpPr/>
          <p:nvPr/>
        </p:nvSpPr>
        <p:spPr>
          <a:xfrm>
            <a:off x="502920" y="411480"/>
            <a:ext cx="73152" cy="201168"/>
          </a:xfrm>
          <a:prstGeom prst="rect">
            <a:avLst/>
          </a:prstGeom>
          <a:solidFill>
            <a:srgbClr val="45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56616"/>
            <a:ext cx="10058400" cy="320040"/>
          </a:xfrm>
          <a:prstGeom prst="rect">
            <a:avLst/>
          </a:prstGeom>
          <a:noFill/>
        </p:spPr>
        <p:txBody>
          <a:bodyPr wrap="square" lIns="0" rIns="0" tIns="25400" bIns="0">
            <a:spAutoFit/>
          </a:bodyPr>
          <a:lstStyle/>
          <a:p>
            <a:pPr>
              <a:spcAft>
                <a:spcPts val="900"/>
              </a:spcAft>
              <a:defRPr sz="1100" b="1">
                <a:solidFill>
                  <a:srgbClr val="45D6BE"/>
                </a:solidFill>
                <a:latin typeface="Noto Sans CJK KR"/>
              </a:defRPr>
            </a:pPr>
            <a:r>
              <a:t>05 · BACKGROUND 1 / 2</a:t>
            </a:r>
          </a:p>
        </p:txBody>
      </p:sp>
      <p:sp>
        <p:nvSpPr>
          <p:cNvPr id="4" name="TextBox 3"/>
          <p:cNvSpPr txBox="1"/>
          <p:nvPr/>
        </p:nvSpPr>
        <p:spPr>
          <a:xfrm>
            <a:off x="594360" y="886968"/>
            <a:ext cx="10972800" cy="960120"/>
          </a:xfrm>
          <a:prstGeom prst="rect">
            <a:avLst/>
          </a:prstGeom>
          <a:noFill/>
        </p:spPr>
        <p:txBody>
          <a:bodyPr wrap="square" lIns="0" rIns="0" tIns="25400" bIns="0">
            <a:spAutoFit/>
          </a:bodyPr>
          <a:lstStyle/>
          <a:p>
            <a:pPr>
              <a:spcAft>
                <a:spcPts val="900"/>
              </a:spcAft>
              <a:defRPr sz="2800" b="1">
                <a:solidFill>
                  <a:srgbClr val="F5F7FC"/>
                </a:solidFill>
                <a:latin typeface="Noto Sans CJK KR"/>
              </a:defRPr>
            </a:pPr>
            <a:r>
              <a:t>일상에서 자세 변화를 알아차리게 하는 도구</a:t>
            </a:r>
          </a:p>
        </p:txBody>
      </p:sp>
      <p:sp>
        <p:nvSpPr>
          <p:cNvPr id="5" name="TextBox 4"/>
          <p:cNvSpPr txBox="1"/>
          <p:nvPr/>
        </p:nvSpPr>
        <p:spPr>
          <a:xfrm>
            <a:off x="594360" y="1865376"/>
            <a:ext cx="10972800" cy="694944"/>
          </a:xfrm>
          <a:prstGeom prst="rect">
            <a:avLst/>
          </a:prstGeom>
          <a:noFill/>
        </p:spPr>
        <p:txBody>
          <a:bodyPr wrap="square" lIns="0" rIns="0" tIns="25400" bIns="0">
            <a:spAutoFit/>
          </a:bodyPr>
          <a:lstStyle/>
          <a:p>
            <a:pPr>
              <a:spcAft>
                <a:spcPts val="900"/>
              </a:spcAft>
              <a:defRPr sz="1500" b="0">
                <a:solidFill>
                  <a:srgbClr val="ADBBD0"/>
                </a:solidFill>
                <a:latin typeface="Noto Sans CJK KR"/>
              </a:defRPr>
            </a:pPr>
            <a:r>
              <a:t>문제 인식 → 생활 속 관찰 → 적절한 시점의 피드백</a:t>
            </a:r>
          </a:p>
        </p:txBody>
      </p:sp>
      <p:sp>
        <p:nvSpPr>
          <p:cNvPr id="6" name="TextBox 5"/>
          <p:cNvSpPr txBox="1"/>
          <p:nvPr/>
        </p:nvSpPr>
        <p:spPr>
          <a:xfrm>
            <a:off x="11064240" y="6455664"/>
            <a:ext cx="548640" cy="228600"/>
          </a:xfrm>
          <a:prstGeom prst="rect">
            <a:avLst/>
          </a:prstGeom>
          <a:noFill/>
        </p:spPr>
        <p:txBody>
          <a:bodyPr wrap="square" lIns="0" rIns="0" tIns="25400" bIns="0">
            <a:spAutoFit/>
          </a:bodyPr>
          <a:lstStyle/>
          <a:p>
            <a:pPr>
              <a:spcAft>
                <a:spcPts val="900"/>
              </a:spcAft>
              <a:defRPr sz="1000" b="0">
                <a:solidFill>
                  <a:srgbClr val="ADBBD0"/>
                </a:solidFill>
                <a:latin typeface="Noto Sans CJK KR"/>
              </a:defRPr>
            </a:pPr>
            <a:r>
              <a:t>05</a:t>
            </a:r>
          </a:p>
        </p:txBody>
      </p:sp>
      <p:sp>
        <p:nvSpPr>
          <p:cNvPr id="7" name="Rounded Rectangle 6"/>
          <p:cNvSpPr/>
          <p:nvPr/>
        </p:nvSpPr>
        <p:spPr>
          <a:xfrm>
            <a:off x="594360"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사회적 배경</a:t>
            </a:r>
          </a:p>
        </p:txBody>
      </p:sp>
      <p:sp>
        <p:nvSpPr>
          <p:cNvPr id="9" name="TextBox 8"/>
          <p:cNvSpPr txBox="1"/>
          <p:nvPr/>
        </p:nvSpPr>
        <p:spPr>
          <a:xfrm>
            <a:off x="777240"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WHO: 2022년 전 세계 성인 31%가</a:t>
            </a:r>
          </a:p>
          <a:p>
            <a:pPr>
              <a:spcAft>
                <a:spcPts val="900"/>
              </a:spcAft>
              <a:defRPr sz="1700" b="0">
                <a:solidFill>
                  <a:srgbClr val="F5F7FC"/>
                </a:solidFill>
                <a:latin typeface="Noto Sans CJK KR"/>
              </a:defRPr>
            </a:pPr>
            <a:r>
              <a:t>권장 신체활동량에 미달</a:t>
            </a:r>
          </a:p>
          <a:p>
            <a:pPr>
              <a:spcAft>
                <a:spcPts val="900"/>
              </a:spcAft>
              <a:defRPr sz="1700" b="0">
                <a:solidFill>
                  <a:srgbClr val="F5F7FC"/>
                </a:solidFill>
                <a:latin typeface="Noto Sans CJK KR"/>
              </a:defRPr>
            </a:pPr>
            <a:r>
              <a:t>2024년 발표된 생활 건강관리 관련 지표 [B1]</a:t>
            </a:r>
          </a:p>
        </p:txBody>
      </p:sp>
      <p:sp>
        <p:nvSpPr>
          <p:cNvPr id="10" name="Rounded Rectangle 9"/>
          <p:cNvSpPr/>
          <p:nvPr/>
        </p:nvSpPr>
        <p:spPr>
          <a:xfrm>
            <a:off x="4334256"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연구의 출발점</a:t>
            </a:r>
          </a:p>
        </p:txBody>
      </p:sp>
      <p:sp>
        <p:nvSpPr>
          <p:cNvPr id="12" name="TextBox 11"/>
          <p:cNvSpPr txBox="1"/>
          <p:nvPr/>
        </p:nvSpPr>
        <p:spPr>
          <a:xfrm>
            <a:off x="4517136"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컴퓨터 작업 중 머리·몸통의 자세를</a:t>
            </a:r>
          </a:p>
          <a:p>
            <a:pPr>
              <a:spcAft>
                <a:spcPts val="900"/>
              </a:spcAft>
              <a:defRPr sz="1700" b="0">
                <a:solidFill>
                  <a:srgbClr val="F5F7FC"/>
                </a:solidFill>
                <a:latin typeface="Noto Sans CJK KR"/>
              </a:defRPr>
            </a:pPr>
            <a:r>
              <a:t>영상으로 분류한 선행연구가 존재 [P1]</a:t>
            </a:r>
          </a:p>
          <a:p>
            <a:pPr>
              <a:spcAft>
                <a:spcPts val="900"/>
              </a:spcAft>
              <a:defRPr sz="1700" b="0">
                <a:solidFill>
                  <a:srgbClr val="F5F7FC"/>
                </a:solidFill>
                <a:latin typeface="Noto Sans CJK KR"/>
              </a:defRPr>
            </a:pPr>
            <a:r>
              <a:t>본 과제는 일상 사용 중의 피드백에 주목</a:t>
            </a:r>
          </a:p>
        </p:txBody>
      </p:sp>
      <p:sp>
        <p:nvSpPr>
          <p:cNvPr id="13" name="Rounded Rectangle 12"/>
          <p:cNvSpPr/>
          <p:nvPr/>
        </p:nvSpPr>
        <p:spPr>
          <a:xfrm>
            <a:off x="8074152"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Inspiration</a:t>
            </a:r>
          </a:p>
        </p:txBody>
      </p:sp>
      <p:sp>
        <p:nvSpPr>
          <p:cNvPr id="15" name="TextBox 14"/>
          <p:cNvSpPr txBox="1"/>
          <p:nvPr/>
        </p:nvSpPr>
        <p:spPr>
          <a:xfrm>
            <a:off x="8257031"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자세를 계속 의식하도록 요구하기보다</a:t>
            </a:r>
          </a:p>
          <a:p>
            <a:pPr>
              <a:spcAft>
                <a:spcPts val="900"/>
              </a:spcAft>
              <a:defRPr sz="1700" b="0">
                <a:solidFill>
                  <a:srgbClr val="F5F7FC"/>
                </a:solidFill>
                <a:latin typeface="Noto Sans CJK KR"/>
              </a:defRPr>
            </a:pPr>
            <a:r>
              <a:t>기준 자세에서 벗어난 시간이 길어질 때</a:t>
            </a:r>
          </a:p>
          <a:p>
            <a:pPr>
              <a:spcAft>
                <a:spcPts val="900"/>
              </a:spcAft>
              <a:defRPr sz="1700" b="0">
                <a:solidFill>
                  <a:srgbClr val="F5F7FC"/>
                </a:solidFill>
                <a:latin typeface="Noto Sans CJK KR"/>
              </a:defRPr>
            </a:pPr>
            <a:r>
              <a:t>사용자가 알아차릴 수 있도록 알림</a:t>
            </a:r>
          </a:p>
        </p:txBody>
      </p:sp>
      <p:sp>
        <p:nvSpPr>
          <p:cNvPr id="16" name="TextBox 15"/>
          <p:cNvSpPr txBox="1"/>
          <p:nvPr/>
        </p:nvSpPr>
        <p:spPr>
          <a:xfrm>
            <a:off x="594360" y="5943600"/>
            <a:ext cx="11000232" cy="457200"/>
          </a:xfrm>
          <a:prstGeom prst="rect">
            <a:avLst/>
          </a:prstGeom>
          <a:noFill/>
        </p:spPr>
        <p:txBody>
          <a:bodyPr wrap="square" lIns="0" rIns="0" tIns="25400" bIns="0">
            <a:spAutoFit/>
          </a:bodyPr>
          <a:lstStyle/>
          <a:p>
            <a:pPr>
              <a:spcAft>
                <a:spcPts val="900"/>
              </a:spcAft>
              <a:defRPr sz="1300" b="0">
                <a:solidFill>
                  <a:srgbClr val="45D6BE"/>
                </a:solidFill>
                <a:latin typeface="Noto Sans CJK KR"/>
              </a:defRPr>
            </a:pPr>
            <a:r>
              <a:t>신체활동 부족 통계는 거북목 유병률이나 자세 알림의 건강 효과를 의미하지 않는다.</a:t>
            </a:r>
          </a:p>
        </p:txBody>
      </p:sp>
      <p:sp>
        <p:nvSpPr>
          <p:cNvPr id="17" name="TextBox 16"/>
          <p:cNvSpPr txBox="1"/>
          <p:nvPr/>
        </p:nvSpPr>
        <p:spPr>
          <a:xfrm>
            <a:off x="594360" y="6455664"/>
            <a:ext cx="10241280" cy="246888"/>
          </a:xfrm>
          <a:prstGeom prst="rect">
            <a:avLst/>
          </a:prstGeom>
          <a:noFill/>
        </p:spPr>
        <p:txBody>
          <a:bodyPr wrap="square" lIns="0" rIns="0" tIns="25400" bIns="0">
            <a:spAutoFit/>
          </a:bodyPr>
          <a:lstStyle/>
          <a:p>
            <a:pPr>
              <a:spcAft>
                <a:spcPts val="900"/>
              </a:spcAft>
              <a:defRPr sz="900" b="0">
                <a:solidFill>
                  <a:srgbClr val="ADBBD0"/>
                </a:solidFill>
                <a:latin typeface="Noto Sans CJK KR"/>
              </a:defRPr>
            </a:pPr>
            <a:r>
              <a:rPr sz="800">
                <a:solidFill>
                  <a:srgbClr val="ADBBD0"/>
                </a:solidFill>
                <a:latin typeface="Noto Sans CJK KR"/>
                <a:hlinkClick r:id="rId2"/>
              </a:rPr>
              <a:t>[B1] WHO, 신체활동 부족 보도자료, 2024-06-26   </a:t>
            </a:r>
            <a:r>
              <a:rPr sz="800">
                <a:solidFill>
                  <a:srgbClr val="ADBBD0"/>
                </a:solidFill>
                <a:latin typeface="Noto Sans CJK KR"/>
                <a:hlinkClick r:id="rId3"/>
              </a:rPr>
              <a:t>[P1] Lee et al., Applied Sciences 2023, 13(19), 10935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728"/>
        </a:solidFill>
        <a:effectLst/>
      </p:bgPr>
    </p:bg>
    <p:spTree>
      <p:nvGrpSpPr>
        <p:cNvPr id="1" name=""/>
        <p:cNvGrpSpPr/>
        <p:nvPr/>
      </p:nvGrpSpPr>
      <p:grpSpPr/>
      <p:sp>
        <p:nvSpPr>
          <p:cNvPr id="2" name="Rectangle 1"/>
          <p:cNvSpPr/>
          <p:nvPr/>
        </p:nvSpPr>
        <p:spPr>
          <a:xfrm>
            <a:off x="502920" y="411480"/>
            <a:ext cx="73152" cy="201168"/>
          </a:xfrm>
          <a:prstGeom prst="rect">
            <a:avLst/>
          </a:prstGeom>
          <a:solidFill>
            <a:srgbClr val="45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56616"/>
            <a:ext cx="10058400" cy="320040"/>
          </a:xfrm>
          <a:prstGeom prst="rect">
            <a:avLst/>
          </a:prstGeom>
          <a:noFill/>
        </p:spPr>
        <p:txBody>
          <a:bodyPr wrap="square" lIns="0" rIns="0" tIns="25400" bIns="0">
            <a:spAutoFit/>
          </a:bodyPr>
          <a:lstStyle/>
          <a:p>
            <a:pPr>
              <a:spcAft>
                <a:spcPts val="900"/>
              </a:spcAft>
              <a:defRPr sz="1100" b="1">
                <a:solidFill>
                  <a:srgbClr val="45D6BE"/>
                </a:solidFill>
                <a:latin typeface="Noto Sans CJK KR"/>
              </a:defRPr>
            </a:pPr>
            <a:r>
              <a:t>05 · BACKGROUND 2 / 2</a:t>
            </a:r>
          </a:p>
        </p:txBody>
      </p:sp>
      <p:sp>
        <p:nvSpPr>
          <p:cNvPr id="4" name="TextBox 3"/>
          <p:cNvSpPr txBox="1"/>
          <p:nvPr/>
        </p:nvSpPr>
        <p:spPr>
          <a:xfrm>
            <a:off x="594360" y="886968"/>
            <a:ext cx="10972800" cy="960120"/>
          </a:xfrm>
          <a:prstGeom prst="rect">
            <a:avLst/>
          </a:prstGeom>
          <a:noFill/>
        </p:spPr>
        <p:txBody>
          <a:bodyPr wrap="square" lIns="0" rIns="0" tIns="25400" bIns="0">
            <a:spAutoFit/>
          </a:bodyPr>
          <a:lstStyle/>
          <a:p>
            <a:pPr>
              <a:spcAft>
                <a:spcPts val="900"/>
              </a:spcAft>
              <a:defRPr sz="2800" b="1">
                <a:solidFill>
                  <a:srgbClr val="F5F7FC"/>
                </a:solidFill>
                <a:latin typeface="Noto Sans CJK KR"/>
              </a:defRPr>
            </a:pPr>
            <a:r>
              <a:t>최신 동향: 카메라 기반 평가와 온디바이스 피드백</a:t>
            </a:r>
          </a:p>
        </p:txBody>
      </p:sp>
      <p:sp>
        <p:nvSpPr>
          <p:cNvPr id="5" name="TextBox 4"/>
          <p:cNvSpPr txBox="1"/>
          <p:nvPr/>
        </p:nvSpPr>
        <p:spPr>
          <a:xfrm>
            <a:off x="594360" y="1865376"/>
            <a:ext cx="10972800" cy="694944"/>
          </a:xfrm>
          <a:prstGeom prst="rect">
            <a:avLst/>
          </a:prstGeom>
          <a:noFill/>
        </p:spPr>
        <p:txBody>
          <a:bodyPr wrap="square" lIns="0" rIns="0" tIns="25400" bIns="0">
            <a:spAutoFit/>
          </a:bodyPr>
          <a:lstStyle/>
          <a:p>
            <a:pPr>
              <a:spcAft>
                <a:spcPts val="900"/>
              </a:spcAft>
              <a:defRPr sz="1500" b="0">
                <a:solidFill>
                  <a:srgbClr val="ADBBD0"/>
                </a:solidFill>
                <a:latin typeface="Noto Sans CJK KR"/>
              </a:defRPr>
            </a:pPr>
            <a:r>
              <a:t>2025–2026 공개 자료에서 확인한 서비스·개발 방향</a:t>
            </a:r>
          </a:p>
        </p:txBody>
      </p:sp>
      <p:sp>
        <p:nvSpPr>
          <p:cNvPr id="6" name="TextBox 5"/>
          <p:cNvSpPr txBox="1"/>
          <p:nvPr/>
        </p:nvSpPr>
        <p:spPr>
          <a:xfrm>
            <a:off x="11064240" y="6455664"/>
            <a:ext cx="548640" cy="228600"/>
          </a:xfrm>
          <a:prstGeom prst="rect">
            <a:avLst/>
          </a:prstGeom>
          <a:noFill/>
        </p:spPr>
        <p:txBody>
          <a:bodyPr wrap="square" lIns="0" rIns="0" tIns="25400" bIns="0">
            <a:spAutoFit/>
          </a:bodyPr>
          <a:lstStyle/>
          <a:p>
            <a:pPr>
              <a:spcAft>
                <a:spcPts val="900"/>
              </a:spcAft>
              <a:defRPr sz="1000" b="0">
                <a:solidFill>
                  <a:srgbClr val="ADBBD0"/>
                </a:solidFill>
                <a:latin typeface="Noto Sans CJK KR"/>
              </a:defRPr>
            </a:pPr>
            <a:r>
              <a:t>06</a:t>
            </a:r>
          </a:p>
        </p:txBody>
      </p:sp>
      <p:sp>
        <p:nvSpPr>
          <p:cNvPr id="7" name="Rounded Rectangle 6"/>
          <p:cNvSpPr/>
          <p:nvPr/>
        </p:nvSpPr>
        <p:spPr>
          <a:xfrm>
            <a:off x="594360"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2025.10 · 서비스 확대</a:t>
            </a:r>
          </a:p>
        </p:txBody>
      </p:sp>
      <p:sp>
        <p:nvSpPr>
          <p:cNvPr id="9" name="TextBox 8"/>
          <p:cNvSpPr txBox="1"/>
          <p:nvPr/>
        </p:nvSpPr>
        <p:spPr>
          <a:xfrm>
            <a:off x="777240"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Hinge Health가 Movement Analysis 발표</a:t>
            </a:r>
          </a:p>
          <a:p>
            <a:pPr>
              <a:spcAft>
                <a:spcPts val="900"/>
              </a:spcAft>
              <a:defRPr sz="1700" b="0">
                <a:solidFill>
                  <a:srgbClr val="F5F7FC"/>
                </a:solidFill>
                <a:latin typeface="Noto Sans CJK KR"/>
              </a:defRPr>
            </a:pPr>
            <a:r>
              <a:t>카메라 기반 관절 각도·대칭성 등 평가를</a:t>
            </a:r>
          </a:p>
          <a:p>
            <a:pPr>
              <a:spcAft>
                <a:spcPts val="900"/>
              </a:spcAft>
              <a:defRPr sz="1700" b="0">
                <a:solidFill>
                  <a:srgbClr val="F5F7FC"/>
                </a:solidFill>
                <a:latin typeface="Noto Sans CJK KR"/>
              </a:defRPr>
            </a:pPr>
            <a:r>
              <a:t>실제 근골격계 관리 서비스에 연결 [B2]</a:t>
            </a:r>
          </a:p>
        </p:txBody>
      </p:sp>
      <p:sp>
        <p:nvSpPr>
          <p:cNvPr id="10" name="Rounded Rectangle 9"/>
          <p:cNvSpPr/>
          <p:nvPr/>
        </p:nvSpPr>
        <p:spPr>
          <a:xfrm>
            <a:off x="4334256"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2026.08 · 현장 성능 개선</a:t>
            </a:r>
          </a:p>
        </p:txBody>
      </p:sp>
      <p:sp>
        <p:nvSpPr>
          <p:cNvPr id="12" name="TextBox 11"/>
          <p:cNvSpPr txBox="1"/>
          <p:nvPr/>
        </p:nvSpPr>
        <p:spPr>
          <a:xfrm>
            <a:off x="4517136"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Hinge Health 개발팀은 사용자 기기에서</a:t>
            </a:r>
          </a:p>
          <a:p>
            <a:pPr>
              <a:spcAft>
                <a:spcPts val="900"/>
              </a:spcAft>
              <a:defRPr sz="1700" b="0">
                <a:solidFill>
                  <a:srgbClr val="F5F7FC"/>
                </a:solidFill>
                <a:latin typeface="Noto Sans CJK KR"/>
              </a:defRPr>
            </a:pPr>
            <a:r>
              <a:t>동작하는 CV 처리의 지연 최적화를 소개</a:t>
            </a:r>
          </a:p>
          <a:p>
            <a:pPr>
              <a:spcAft>
                <a:spcPts val="900"/>
              </a:spcAft>
              <a:defRPr sz="1700" b="0">
                <a:solidFill>
                  <a:srgbClr val="F5F7FC"/>
                </a:solidFill>
                <a:latin typeface="Noto Sans CJK KR"/>
              </a:defRPr>
            </a:pPr>
            <a:r>
              <a:t>기기 성능 차이 대응이 개발 과제 [B3]</a:t>
            </a:r>
          </a:p>
        </p:txBody>
      </p:sp>
      <p:sp>
        <p:nvSpPr>
          <p:cNvPr id="13" name="Rounded Rectangle 12"/>
          <p:cNvSpPr/>
          <p:nvPr/>
        </p:nvSpPr>
        <p:spPr>
          <a:xfrm>
            <a:off x="8074152"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본 과제에 주는 시사점</a:t>
            </a:r>
          </a:p>
        </p:txBody>
      </p:sp>
      <p:sp>
        <p:nvSpPr>
          <p:cNvPr id="15" name="TextBox 14"/>
          <p:cNvSpPr txBox="1"/>
          <p:nvPr/>
        </p:nvSpPr>
        <p:spPr>
          <a:xfrm>
            <a:off x="8257031"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인식 정확도와 함께 반응성·지속 사용 고려</a:t>
            </a:r>
          </a:p>
          <a:p>
            <a:pPr>
              <a:spcAft>
                <a:spcPts val="900"/>
              </a:spcAft>
              <a:defRPr sz="1700" b="0">
                <a:solidFill>
                  <a:srgbClr val="F5F7FC"/>
                </a:solidFill>
                <a:latin typeface="Noto Sans CJK KR"/>
              </a:defRPr>
            </a:pPr>
            <a:r>
              <a:t>고정된 저사양 장치에서 성능 검증</a:t>
            </a:r>
          </a:p>
          <a:p>
            <a:pPr>
              <a:spcAft>
                <a:spcPts val="900"/>
              </a:spcAft>
              <a:defRPr sz="1700" b="0">
                <a:solidFill>
                  <a:srgbClr val="F5F7FC"/>
                </a:solidFill>
                <a:latin typeface="Noto Sans CJK KR"/>
              </a:defRPr>
            </a:pPr>
            <a:r>
              <a:t>개인별 기준과 알림 빈도 제어를 결합</a:t>
            </a:r>
          </a:p>
        </p:txBody>
      </p:sp>
      <p:sp>
        <p:nvSpPr>
          <p:cNvPr id="16" name="TextBox 15"/>
          <p:cNvSpPr txBox="1"/>
          <p:nvPr/>
        </p:nvSpPr>
        <p:spPr>
          <a:xfrm>
            <a:off x="594360" y="5943600"/>
            <a:ext cx="11000232" cy="457200"/>
          </a:xfrm>
          <a:prstGeom prst="rect">
            <a:avLst/>
          </a:prstGeom>
          <a:noFill/>
        </p:spPr>
        <p:txBody>
          <a:bodyPr wrap="square" lIns="0" rIns="0" tIns="25400" bIns="0">
            <a:spAutoFit/>
          </a:bodyPr>
          <a:lstStyle/>
          <a:p>
            <a:pPr>
              <a:spcAft>
                <a:spcPts val="900"/>
              </a:spcAft>
              <a:defRPr sz="1300" b="0">
                <a:solidFill>
                  <a:srgbClr val="45D6BE"/>
                </a:solidFill>
                <a:latin typeface="Noto Sans CJK KR"/>
              </a:defRPr>
            </a:pPr>
            <a:r>
              <a:t>기업 자료는 상용화 방향의 근거이며, 본 시스템의 성능·효과를 증명하는 자료는 아니다.</a:t>
            </a:r>
          </a:p>
        </p:txBody>
      </p:sp>
      <p:sp>
        <p:nvSpPr>
          <p:cNvPr id="17" name="TextBox 16"/>
          <p:cNvSpPr txBox="1"/>
          <p:nvPr/>
        </p:nvSpPr>
        <p:spPr>
          <a:xfrm>
            <a:off x="594360" y="6455664"/>
            <a:ext cx="10241280" cy="246888"/>
          </a:xfrm>
          <a:prstGeom prst="rect">
            <a:avLst/>
          </a:prstGeom>
          <a:noFill/>
        </p:spPr>
        <p:txBody>
          <a:bodyPr wrap="square" lIns="0" rIns="0" tIns="25400" bIns="0">
            <a:spAutoFit/>
          </a:bodyPr>
          <a:lstStyle/>
          <a:p>
            <a:pPr>
              <a:spcAft>
                <a:spcPts val="900"/>
              </a:spcAft>
              <a:defRPr sz="900" b="0">
                <a:solidFill>
                  <a:srgbClr val="ADBBD0"/>
                </a:solidFill>
                <a:latin typeface="Noto Sans CJK KR"/>
              </a:defRPr>
            </a:pPr>
            <a:r>
              <a:rPr sz="800">
                <a:solidFill>
                  <a:srgbClr val="ADBBD0"/>
                </a:solidFill>
                <a:latin typeface="Noto Sans CJK KR"/>
                <a:hlinkClick r:id="rId2"/>
              </a:rPr>
              <a:t>[B2] Hinge Health, AI care tools, 2025-10-21   </a:t>
            </a:r>
            <a:r>
              <a:rPr sz="800">
                <a:solidFill>
                  <a:srgbClr val="ADBBD0"/>
                </a:solidFill>
                <a:latin typeface="Noto Sans CJK KR"/>
                <a:hlinkClick r:id="rId3"/>
              </a:rPr>
              <a:t>[B3] Hinge Health R&amp;D, 기기 지연 최적화, 2026-08-04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728"/>
        </a:solidFill>
        <a:effectLst/>
      </p:bgPr>
    </p:bg>
    <p:spTree>
      <p:nvGrpSpPr>
        <p:cNvPr id="1" name=""/>
        <p:cNvGrpSpPr/>
        <p:nvPr/>
      </p:nvGrpSpPr>
      <p:grpSpPr/>
      <p:sp>
        <p:nvSpPr>
          <p:cNvPr id="2" name="Rectangle 1"/>
          <p:cNvSpPr/>
          <p:nvPr/>
        </p:nvSpPr>
        <p:spPr>
          <a:xfrm>
            <a:off x="502920" y="411480"/>
            <a:ext cx="73152" cy="201168"/>
          </a:xfrm>
          <a:prstGeom prst="rect">
            <a:avLst/>
          </a:prstGeom>
          <a:solidFill>
            <a:srgbClr val="45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56616"/>
            <a:ext cx="10058400" cy="320040"/>
          </a:xfrm>
          <a:prstGeom prst="rect">
            <a:avLst/>
          </a:prstGeom>
          <a:noFill/>
        </p:spPr>
        <p:txBody>
          <a:bodyPr wrap="square" lIns="0" rIns="0" tIns="25400" bIns="0">
            <a:spAutoFit/>
          </a:bodyPr>
          <a:lstStyle/>
          <a:p>
            <a:pPr>
              <a:spcAft>
                <a:spcPts val="900"/>
              </a:spcAft>
              <a:defRPr sz="1100" b="1">
                <a:solidFill>
                  <a:srgbClr val="45D6BE"/>
                </a:solidFill>
                <a:latin typeface="Noto Sans CJK KR"/>
              </a:defRPr>
            </a:pPr>
            <a:r>
              <a:t>06 · MOTIVATION 1 / 2</a:t>
            </a:r>
          </a:p>
        </p:txBody>
      </p:sp>
      <p:sp>
        <p:nvSpPr>
          <p:cNvPr id="4" name="TextBox 3"/>
          <p:cNvSpPr txBox="1"/>
          <p:nvPr/>
        </p:nvSpPr>
        <p:spPr>
          <a:xfrm>
            <a:off x="594360" y="886968"/>
            <a:ext cx="10972800" cy="960120"/>
          </a:xfrm>
          <a:prstGeom prst="rect">
            <a:avLst/>
          </a:prstGeom>
          <a:noFill/>
        </p:spPr>
        <p:txBody>
          <a:bodyPr wrap="square" lIns="0" rIns="0" tIns="25400" bIns="0">
            <a:spAutoFit/>
          </a:bodyPr>
          <a:lstStyle/>
          <a:p>
            <a:pPr>
              <a:spcAft>
                <a:spcPts val="900"/>
              </a:spcAft>
              <a:defRPr sz="2800" b="1">
                <a:solidFill>
                  <a:srgbClr val="F5F7FC"/>
                </a:solidFill>
                <a:latin typeface="Noto Sans CJK KR"/>
              </a:defRPr>
            </a:pPr>
            <a:r>
              <a:t>국내 시장성: 산업보건·재활에서 일상 관리로</a:t>
            </a:r>
          </a:p>
        </p:txBody>
      </p:sp>
      <p:sp>
        <p:nvSpPr>
          <p:cNvPr id="5" name="TextBox 4"/>
          <p:cNvSpPr txBox="1"/>
          <p:nvPr/>
        </p:nvSpPr>
        <p:spPr>
          <a:xfrm>
            <a:off x="594360" y="1865376"/>
            <a:ext cx="10972800" cy="694944"/>
          </a:xfrm>
          <a:prstGeom prst="rect">
            <a:avLst/>
          </a:prstGeom>
          <a:noFill/>
        </p:spPr>
        <p:txBody>
          <a:bodyPr wrap="square" lIns="0" rIns="0" tIns="25400" bIns="0">
            <a:spAutoFit/>
          </a:bodyPr>
          <a:lstStyle/>
          <a:p>
            <a:pPr>
              <a:spcAft>
                <a:spcPts val="900"/>
              </a:spcAft>
              <a:defRPr sz="1500" b="0">
                <a:solidFill>
                  <a:srgbClr val="ADBBD0"/>
                </a:solidFill>
                <a:latin typeface="Noto Sans CJK KR"/>
              </a:defRPr>
            </a:pPr>
            <a:r>
              <a:t>기술 구조 대신 고객, 도입 경로, 구매 이유를 조사</a:t>
            </a:r>
          </a:p>
        </p:txBody>
      </p:sp>
      <p:sp>
        <p:nvSpPr>
          <p:cNvPr id="6" name="TextBox 5"/>
          <p:cNvSpPr txBox="1"/>
          <p:nvPr/>
        </p:nvSpPr>
        <p:spPr>
          <a:xfrm>
            <a:off x="11064240" y="6455664"/>
            <a:ext cx="548640" cy="228600"/>
          </a:xfrm>
          <a:prstGeom prst="rect">
            <a:avLst/>
          </a:prstGeom>
          <a:noFill/>
        </p:spPr>
        <p:txBody>
          <a:bodyPr wrap="square" lIns="0" rIns="0" tIns="25400" bIns="0">
            <a:spAutoFit/>
          </a:bodyPr>
          <a:lstStyle/>
          <a:p>
            <a:pPr>
              <a:spcAft>
                <a:spcPts val="900"/>
              </a:spcAft>
              <a:defRPr sz="1000" b="0">
                <a:solidFill>
                  <a:srgbClr val="ADBBD0"/>
                </a:solidFill>
                <a:latin typeface="Noto Sans CJK KR"/>
              </a:defRPr>
            </a:pPr>
            <a:r>
              <a:t>07</a:t>
            </a:r>
          </a:p>
        </p:txBody>
      </p:sp>
      <p:sp>
        <p:nvSpPr>
          <p:cNvPr id="7" name="Rounded Rectangle 6"/>
          <p:cNvSpPr/>
          <p:nvPr/>
        </p:nvSpPr>
        <p:spPr>
          <a:xfrm>
            <a:off x="594360"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확인된 국내 움직임</a:t>
            </a:r>
          </a:p>
        </p:txBody>
      </p:sp>
      <p:sp>
        <p:nvSpPr>
          <p:cNvPr id="9" name="TextBox 8"/>
          <p:cNvSpPr txBox="1"/>
          <p:nvPr/>
        </p:nvSpPr>
        <p:spPr>
          <a:xfrm>
            <a:off x="777240"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EverEx 공식 뉴스룸: 2025.02</a:t>
            </a:r>
          </a:p>
          <a:p>
            <a:pPr>
              <a:spcAft>
                <a:spcPts val="900"/>
              </a:spcAft>
              <a:defRPr sz="1700" b="0">
                <a:solidFill>
                  <a:srgbClr val="F5F7FC"/>
                </a:solidFill>
                <a:latin typeface="Noto Sans CJK KR"/>
              </a:defRPr>
            </a:pPr>
            <a:r>
              <a:t>대한산업보건협회와 산재 예방 협력 MOU</a:t>
            </a:r>
          </a:p>
          <a:p>
            <a:pPr>
              <a:spcAft>
                <a:spcPts val="900"/>
              </a:spcAft>
              <a:defRPr sz="1700" b="0">
                <a:solidFill>
                  <a:srgbClr val="F5F7FC"/>
                </a:solidFill>
                <a:latin typeface="Noto Sans CJK KR"/>
              </a:defRPr>
            </a:pPr>
            <a:r>
              <a:t>2025.03에는 검사 키오스크 관련 보도 [M1]</a:t>
            </a:r>
          </a:p>
        </p:txBody>
      </p:sp>
      <p:sp>
        <p:nvSpPr>
          <p:cNvPr id="10" name="Rounded Rectangle 9"/>
          <p:cNvSpPr/>
          <p:nvPr/>
        </p:nvSpPr>
        <p:spPr>
          <a:xfrm>
            <a:off x="4334256"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현재 공급과 고객</a:t>
            </a:r>
          </a:p>
        </p:txBody>
      </p:sp>
      <p:sp>
        <p:nvSpPr>
          <p:cNvPr id="12" name="TextBox 11"/>
          <p:cNvSpPr txBox="1"/>
          <p:nvPr/>
        </p:nvSpPr>
        <p:spPr>
          <a:xfrm>
            <a:off x="4517136"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EverEx는 동작 평가와 재활 솔루션 제공 [M2]</a:t>
            </a:r>
          </a:p>
          <a:p>
            <a:pPr>
              <a:spcAft>
                <a:spcPts val="900"/>
              </a:spcAft>
              <a:defRPr sz="1700" b="0">
                <a:solidFill>
                  <a:srgbClr val="F5F7FC"/>
                </a:solidFill>
                <a:latin typeface="Noto Sans CJK KR"/>
              </a:defRPr>
            </a:pPr>
            <a:r>
              <a:t>인접 수요: 의료·재활, 근로자 건강관리</a:t>
            </a:r>
          </a:p>
          <a:p>
            <a:pPr>
              <a:spcAft>
                <a:spcPts val="900"/>
              </a:spcAft>
              <a:defRPr sz="1700" b="0">
                <a:solidFill>
                  <a:srgbClr val="F5F7FC"/>
                </a:solidFill>
                <a:latin typeface="Noto Sans CJK KR"/>
              </a:defRPr>
            </a:pPr>
            <a:r>
              <a:t>기존 제품의 존재는 사업 기회의 근거</a:t>
            </a:r>
          </a:p>
        </p:txBody>
      </p:sp>
      <p:sp>
        <p:nvSpPr>
          <p:cNvPr id="13" name="Rounded Rectangle 12"/>
          <p:cNvSpPr/>
          <p:nvPr/>
        </p:nvSpPr>
        <p:spPr>
          <a:xfrm>
            <a:off x="8074152"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우리 팀의 시장 가설</a:t>
            </a:r>
          </a:p>
        </p:txBody>
      </p:sp>
      <p:sp>
        <p:nvSpPr>
          <p:cNvPr id="15" name="TextBox 14"/>
          <p:cNvSpPr txBox="1"/>
          <p:nvPr/>
        </p:nvSpPr>
        <p:spPr>
          <a:xfrm>
            <a:off x="8257031"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초기 고객: 대학 연구실·소규모 사무실</a:t>
            </a:r>
          </a:p>
          <a:p>
            <a:pPr>
              <a:spcAft>
                <a:spcPts val="900"/>
              </a:spcAft>
              <a:defRPr sz="1700" b="0">
                <a:solidFill>
                  <a:srgbClr val="F5F7FC"/>
                </a:solidFill>
                <a:latin typeface="Noto Sans CJK KR"/>
              </a:defRPr>
            </a:pPr>
            <a:r>
              <a:t>구매 가치: 간단한 설치, 착용 부담 감소,</a:t>
            </a:r>
          </a:p>
          <a:p>
            <a:pPr>
              <a:spcAft>
                <a:spcPts val="900"/>
              </a:spcAft>
              <a:defRPr sz="1700" b="0">
                <a:solidFill>
                  <a:srgbClr val="F5F7FC"/>
                </a:solidFill>
                <a:latin typeface="Noto Sans CJK KR"/>
              </a:defRPr>
            </a:pPr>
            <a:r>
              <a:t>영상 외부 전송 없는 개인 자세 관리</a:t>
            </a:r>
          </a:p>
        </p:txBody>
      </p:sp>
      <p:sp>
        <p:nvSpPr>
          <p:cNvPr id="16" name="TextBox 15"/>
          <p:cNvSpPr txBox="1"/>
          <p:nvPr/>
        </p:nvSpPr>
        <p:spPr>
          <a:xfrm>
            <a:off x="594360" y="5943600"/>
            <a:ext cx="11000232" cy="457200"/>
          </a:xfrm>
          <a:prstGeom prst="rect">
            <a:avLst/>
          </a:prstGeom>
          <a:noFill/>
        </p:spPr>
        <p:txBody>
          <a:bodyPr wrap="square" lIns="0" rIns="0" tIns="25400" bIns="0">
            <a:spAutoFit/>
          </a:bodyPr>
          <a:lstStyle/>
          <a:p>
            <a:pPr>
              <a:spcAft>
                <a:spcPts val="900"/>
              </a:spcAft>
              <a:defRPr sz="1300" b="0">
                <a:solidFill>
                  <a:srgbClr val="45D6BE"/>
                </a:solidFill>
                <a:latin typeface="Noto Sans CJK KR"/>
              </a:defRPr>
            </a:pPr>
            <a:r>
              <a:t>국내 자세 알림 기기의 시장 규모·지불의사는 확인되지 않음 → 인터뷰와 시범 도입으로 검증.</a:t>
            </a:r>
          </a:p>
        </p:txBody>
      </p:sp>
      <p:sp>
        <p:nvSpPr>
          <p:cNvPr id="17" name="TextBox 16"/>
          <p:cNvSpPr txBox="1"/>
          <p:nvPr/>
        </p:nvSpPr>
        <p:spPr>
          <a:xfrm>
            <a:off x="594360" y="6455664"/>
            <a:ext cx="10241280" cy="246888"/>
          </a:xfrm>
          <a:prstGeom prst="rect">
            <a:avLst/>
          </a:prstGeom>
          <a:noFill/>
        </p:spPr>
        <p:txBody>
          <a:bodyPr wrap="square" lIns="0" rIns="0" tIns="25400" bIns="0">
            <a:spAutoFit/>
          </a:bodyPr>
          <a:lstStyle/>
          <a:p>
            <a:pPr>
              <a:spcAft>
                <a:spcPts val="900"/>
              </a:spcAft>
              <a:defRPr sz="900" b="0">
                <a:solidFill>
                  <a:srgbClr val="ADBBD0"/>
                </a:solidFill>
                <a:latin typeface="Noto Sans CJK KR"/>
              </a:defRPr>
            </a:pPr>
            <a:r>
              <a:rPr sz="800">
                <a:solidFill>
                  <a:srgbClr val="ADBBD0"/>
                </a:solidFill>
                <a:latin typeface="Noto Sans CJK KR"/>
                <a:hlinkClick r:id="rId2"/>
              </a:rPr>
              <a:t>[M1] EverEx 공식 뉴스룸, 2025년 국내 사업 동향   </a:t>
            </a:r>
            <a:r>
              <a:rPr sz="800">
                <a:solidFill>
                  <a:srgbClr val="ADBBD0"/>
                </a:solidFill>
                <a:latin typeface="Noto Sans CJK KR"/>
                <a:hlinkClick r:id="rId3"/>
              </a:rPr>
              <a:t>[M2] EverEx 공식 제품·서비스 소개, 2026-09-13 열람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728"/>
        </a:solidFill>
        <a:effectLst/>
      </p:bgPr>
    </p:bg>
    <p:spTree>
      <p:nvGrpSpPr>
        <p:cNvPr id="1" name=""/>
        <p:cNvGrpSpPr/>
        <p:nvPr/>
      </p:nvGrpSpPr>
      <p:grpSpPr/>
      <p:sp>
        <p:nvSpPr>
          <p:cNvPr id="2" name="Rectangle 1"/>
          <p:cNvSpPr/>
          <p:nvPr/>
        </p:nvSpPr>
        <p:spPr>
          <a:xfrm>
            <a:off x="502920" y="411480"/>
            <a:ext cx="73152" cy="201168"/>
          </a:xfrm>
          <a:prstGeom prst="rect">
            <a:avLst/>
          </a:prstGeom>
          <a:solidFill>
            <a:srgbClr val="45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56616"/>
            <a:ext cx="10058400" cy="320040"/>
          </a:xfrm>
          <a:prstGeom prst="rect">
            <a:avLst/>
          </a:prstGeom>
          <a:noFill/>
        </p:spPr>
        <p:txBody>
          <a:bodyPr wrap="square" lIns="0" rIns="0" tIns="25400" bIns="0">
            <a:spAutoFit/>
          </a:bodyPr>
          <a:lstStyle/>
          <a:p>
            <a:pPr>
              <a:spcAft>
                <a:spcPts val="900"/>
              </a:spcAft>
              <a:defRPr sz="1100" b="1">
                <a:solidFill>
                  <a:srgbClr val="45D6BE"/>
                </a:solidFill>
                <a:latin typeface="Noto Sans CJK KR"/>
              </a:defRPr>
            </a:pPr>
            <a:r>
              <a:t>06 · MOTIVATION 2 / 2</a:t>
            </a:r>
          </a:p>
        </p:txBody>
      </p:sp>
      <p:sp>
        <p:nvSpPr>
          <p:cNvPr id="4" name="TextBox 3"/>
          <p:cNvSpPr txBox="1"/>
          <p:nvPr/>
        </p:nvSpPr>
        <p:spPr>
          <a:xfrm>
            <a:off x="594360" y="886968"/>
            <a:ext cx="10972800" cy="960120"/>
          </a:xfrm>
          <a:prstGeom prst="rect">
            <a:avLst/>
          </a:prstGeom>
          <a:noFill/>
        </p:spPr>
        <p:txBody>
          <a:bodyPr wrap="square" lIns="0" rIns="0" tIns="25400" bIns="0">
            <a:spAutoFit/>
          </a:bodyPr>
          <a:lstStyle/>
          <a:p>
            <a:pPr>
              <a:spcAft>
                <a:spcPts val="900"/>
              </a:spcAft>
              <a:defRPr sz="2800" b="1">
                <a:solidFill>
                  <a:srgbClr val="F5F7FC"/>
                </a:solidFill>
                <a:latin typeface="Noto Sans CJK KR"/>
              </a:defRPr>
            </a:pPr>
            <a:r>
              <a:t>해외 시장성: 근골격계 디지털 관리의 지불 수요</a:t>
            </a:r>
          </a:p>
        </p:txBody>
      </p:sp>
      <p:sp>
        <p:nvSpPr>
          <p:cNvPr id="5" name="TextBox 4"/>
          <p:cNvSpPr txBox="1"/>
          <p:nvPr/>
        </p:nvSpPr>
        <p:spPr>
          <a:xfrm>
            <a:off x="594360" y="1865376"/>
            <a:ext cx="10972800" cy="694944"/>
          </a:xfrm>
          <a:prstGeom prst="rect">
            <a:avLst/>
          </a:prstGeom>
          <a:noFill/>
        </p:spPr>
        <p:txBody>
          <a:bodyPr wrap="square" lIns="0" rIns="0" tIns="25400" bIns="0">
            <a:spAutoFit/>
          </a:bodyPr>
          <a:lstStyle/>
          <a:p>
            <a:pPr>
              <a:spcAft>
                <a:spcPts val="900"/>
              </a:spcAft>
              <a:defRPr sz="1500" b="0">
                <a:solidFill>
                  <a:srgbClr val="ADBBD0"/>
                </a:solidFill>
                <a:latin typeface="Noto Sans CJK KR"/>
              </a:defRPr>
            </a:pPr>
            <a:r>
              <a:t>2026년 발표된 2025 연간 실적을 활용한 인접시장 조사</a:t>
            </a:r>
          </a:p>
        </p:txBody>
      </p:sp>
      <p:sp>
        <p:nvSpPr>
          <p:cNvPr id="6" name="TextBox 5"/>
          <p:cNvSpPr txBox="1"/>
          <p:nvPr/>
        </p:nvSpPr>
        <p:spPr>
          <a:xfrm>
            <a:off x="11064240" y="6455664"/>
            <a:ext cx="548640" cy="228600"/>
          </a:xfrm>
          <a:prstGeom prst="rect">
            <a:avLst/>
          </a:prstGeom>
          <a:noFill/>
        </p:spPr>
        <p:txBody>
          <a:bodyPr wrap="square" lIns="0" rIns="0" tIns="25400" bIns="0">
            <a:spAutoFit/>
          </a:bodyPr>
          <a:lstStyle/>
          <a:p>
            <a:pPr>
              <a:spcAft>
                <a:spcPts val="900"/>
              </a:spcAft>
              <a:defRPr sz="1000" b="0">
                <a:solidFill>
                  <a:srgbClr val="ADBBD0"/>
                </a:solidFill>
                <a:latin typeface="Noto Sans CJK KR"/>
              </a:defRPr>
            </a:pPr>
            <a:r>
              <a:t>08</a:t>
            </a:r>
          </a:p>
        </p:txBody>
      </p:sp>
      <p:sp>
        <p:nvSpPr>
          <p:cNvPr id="7" name="Rounded Rectangle 6"/>
          <p:cNvSpPr/>
          <p:nvPr/>
        </p:nvSpPr>
        <p:spPr>
          <a:xfrm>
            <a:off x="594360"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매출 · 성장</a:t>
            </a:r>
          </a:p>
        </p:txBody>
      </p:sp>
      <p:sp>
        <p:nvSpPr>
          <p:cNvPr id="9" name="TextBox 8"/>
          <p:cNvSpPr txBox="1"/>
          <p:nvPr/>
        </p:nvSpPr>
        <p:spPr>
          <a:xfrm>
            <a:off x="777240"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Hinge Health 2025년 매출</a:t>
            </a:r>
          </a:p>
          <a:p>
            <a:pPr>
              <a:spcAft>
                <a:spcPts val="900"/>
              </a:spcAft>
              <a:defRPr sz="1700" b="0">
                <a:solidFill>
                  <a:srgbClr val="F5F7FC"/>
                </a:solidFill>
                <a:latin typeface="Noto Sans CJK KR"/>
              </a:defRPr>
            </a:pPr>
            <a:r>
              <a:t>5억 8,790만 달러</a:t>
            </a:r>
          </a:p>
          <a:p>
            <a:pPr>
              <a:spcAft>
                <a:spcPts val="900"/>
              </a:spcAft>
              <a:defRPr sz="1700" b="0">
                <a:solidFill>
                  <a:srgbClr val="F5F7FC"/>
                </a:solidFill>
                <a:latin typeface="Noto Sans CJK KR"/>
              </a:defRPr>
            </a:pPr>
            <a:r>
              <a:t>전년 대비 51% 증가 [M3]</a:t>
            </a:r>
          </a:p>
        </p:txBody>
      </p:sp>
      <p:sp>
        <p:nvSpPr>
          <p:cNvPr id="10" name="Rounded Rectangle 9"/>
          <p:cNvSpPr/>
          <p:nvPr/>
        </p:nvSpPr>
        <p:spPr>
          <a:xfrm>
            <a:off x="4334256"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고객 · 이용 규모</a:t>
            </a:r>
          </a:p>
        </p:txBody>
      </p:sp>
      <p:sp>
        <p:nvSpPr>
          <p:cNvPr id="12" name="TextBox 11"/>
          <p:cNvSpPr txBox="1"/>
          <p:nvPr/>
        </p:nvSpPr>
        <p:spPr>
          <a:xfrm>
            <a:off x="4517136"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2025년 말 기업 고객 2,830곳</a:t>
            </a:r>
          </a:p>
          <a:p>
            <a:pPr>
              <a:spcAft>
                <a:spcPts val="900"/>
              </a:spcAft>
              <a:defRPr sz="1700" b="0">
                <a:solidFill>
                  <a:srgbClr val="F5F7FC"/>
                </a:solidFill>
                <a:latin typeface="Noto Sans CJK KR"/>
              </a:defRPr>
            </a:pPr>
            <a:r>
              <a:t>회원 782,890명 [M3]</a:t>
            </a:r>
          </a:p>
          <a:p>
            <a:pPr>
              <a:spcAft>
                <a:spcPts val="900"/>
              </a:spcAft>
              <a:defRPr sz="1700" b="0">
                <a:solidFill>
                  <a:srgbClr val="F5F7FC"/>
                </a:solidFill>
                <a:latin typeface="Noto Sans CJK KR"/>
              </a:defRPr>
            </a:pPr>
            <a:r>
              <a:t>조직 단위 구매 수요를 보여주는 사례</a:t>
            </a:r>
          </a:p>
        </p:txBody>
      </p:sp>
      <p:sp>
        <p:nvSpPr>
          <p:cNvPr id="13" name="Rounded Rectangle 12"/>
          <p:cNvSpPr/>
          <p:nvPr/>
        </p:nvSpPr>
        <p:spPr>
          <a:xfrm>
            <a:off x="8074152"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도입 필요성 · 검증 항목</a:t>
            </a:r>
          </a:p>
        </p:txBody>
      </p:sp>
      <p:sp>
        <p:nvSpPr>
          <p:cNvPr id="15" name="TextBox 14"/>
          <p:cNvSpPr txBox="1"/>
          <p:nvPr/>
        </p:nvSpPr>
        <p:spPr>
          <a:xfrm>
            <a:off x="8257031"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예상 구매자: 고용주·대학·개인 사용자</a:t>
            </a:r>
          </a:p>
          <a:p>
            <a:pPr>
              <a:spcAft>
                <a:spcPts val="900"/>
              </a:spcAft>
              <a:defRPr sz="1700" b="0">
                <a:solidFill>
                  <a:srgbClr val="F5F7FC"/>
                </a:solidFill>
                <a:latin typeface="Noto Sans CJK KR"/>
              </a:defRPr>
            </a:pPr>
            <a:r>
              <a:t>확인할 가치: 설치비·유지비·알림 만족도</a:t>
            </a:r>
          </a:p>
          <a:p>
            <a:pPr>
              <a:spcAft>
                <a:spcPts val="900"/>
              </a:spcAft>
              <a:defRPr sz="1700" b="0">
                <a:solidFill>
                  <a:srgbClr val="F5F7FC"/>
                </a:solidFill>
                <a:latin typeface="Noto Sans CJK KR"/>
              </a:defRPr>
            </a:pPr>
            <a:r>
              <a:t>유료 전환 의사와 반복 사용률을 조사</a:t>
            </a:r>
          </a:p>
        </p:txBody>
      </p:sp>
      <p:sp>
        <p:nvSpPr>
          <p:cNvPr id="16" name="TextBox 15"/>
          <p:cNvSpPr txBox="1"/>
          <p:nvPr/>
        </p:nvSpPr>
        <p:spPr>
          <a:xfrm>
            <a:off x="594360" y="5943600"/>
            <a:ext cx="11000232" cy="457200"/>
          </a:xfrm>
          <a:prstGeom prst="rect">
            <a:avLst/>
          </a:prstGeom>
          <a:noFill/>
        </p:spPr>
        <p:txBody>
          <a:bodyPr wrap="square" lIns="0" rIns="0" tIns="25400" bIns="0">
            <a:spAutoFit/>
          </a:bodyPr>
          <a:lstStyle/>
          <a:p>
            <a:pPr>
              <a:spcAft>
                <a:spcPts val="900"/>
              </a:spcAft>
              <a:defRPr sz="1300" b="0">
                <a:solidFill>
                  <a:srgbClr val="45D6BE"/>
                </a:solidFill>
                <a:latin typeface="Noto Sans CJK KR"/>
              </a:defRPr>
            </a:pPr>
            <a:r>
              <a:t>위 수치는 한 기업의 근골격계 관리 사업 실적이다. 거북목 교정기 시장 규모로 환산하지 않는다.</a:t>
            </a:r>
          </a:p>
        </p:txBody>
      </p:sp>
      <p:sp>
        <p:nvSpPr>
          <p:cNvPr id="17" name="TextBox 16"/>
          <p:cNvSpPr txBox="1"/>
          <p:nvPr/>
        </p:nvSpPr>
        <p:spPr>
          <a:xfrm>
            <a:off x="594360" y="6455664"/>
            <a:ext cx="10241280" cy="246888"/>
          </a:xfrm>
          <a:prstGeom prst="rect">
            <a:avLst/>
          </a:prstGeom>
          <a:noFill/>
        </p:spPr>
        <p:txBody>
          <a:bodyPr wrap="square" lIns="0" rIns="0" tIns="25400" bIns="0">
            <a:spAutoFit/>
          </a:bodyPr>
          <a:lstStyle/>
          <a:p>
            <a:pPr>
              <a:spcAft>
                <a:spcPts val="900"/>
              </a:spcAft>
              <a:defRPr sz="900" b="0">
                <a:solidFill>
                  <a:srgbClr val="ADBBD0"/>
                </a:solidFill>
                <a:latin typeface="Noto Sans CJK KR"/>
              </a:defRPr>
            </a:pPr>
            <a:r>
              <a:rPr sz="800">
                <a:solidFill>
                  <a:srgbClr val="ADBBD0"/>
                </a:solidFill>
                <a:latin typeface="Noto Sans CJK KR"/>
                <a:hlinkClick r:id="rId2"/>
              </a:rPr>
              <a:t>[M3] Hinge Health, 2025 연간 실적, 2026-02-10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728"/>
        </a:solidFill>
        <a:effectLst/>
      </p:bgPr>
    </p:bg>
    <p:spTree>
      <p:nvGrpSpPr>
        <p:cNvPr id="1" name=""/>
        <p:cNvGrpSpPr/>
        <p:nvPr/>
      </p:nvGrpSpPr>
      <p:grpSpPr/>
      <p:sp>
        <p:nvSpPr>
          <p:cNvPr id="2" name="Rectangle 1"/>
          <p:cNvSpPr/>
          <p:nvPr/>
        </p:nvSpPr>
        <p:spPr>
          <a:xfrm>
            <a:off x="502920" y="411480"/>
            <a:ext cx="73152" cy="201168"/>
          </a:xfrm>
          <a:prstGeom prst="rect">
            <a:avLst/>
          </a:prstGeom>
          <a:solidFill>
            <a:srgbClr val="45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56616"/>
            <a:ext cx="10058400" cy="320040"/>
          </a:xfrm>
          <a:prstGeom prst="rect">
            <a:avLst/>
          </a:prstGeom>
          <a:noFill/>
        </p:spPr>
        <p:txBody>
          <a:bodyPr wrap="square" lIns="0" rIns="0" tIns="25400" bIns="0">
            <a:spAutoFit/>
          </a:bodyPr>
          <a:lstStyle/>
          <a:p>
            <a:pPr>
              <a:spcAft>
                <a:spcPts val="900"/>
              </a:spcAft>
              <a:defRPr sz="1100" b="1">
                <a:solidFill>
                  <a:srgbClr val="45D6BE"/>
                </a:solidFill>
                <a:latin typeface="Noto Sans CJK KR"/>
              </a:defRPr>
            </a:pPr>
            <a:r>
              <a:t>APPENDIX · CONTRIBUTION</a:t>
            </a:r>
          </a:p>
        </p:txBody>
      </p:sp>
      <p:sp>
        <p:nvSpPr>
          <p:cNvPr id="4" name="TextBox 3"/>
          <p:cNvSpPr txBox="1"/>
          <p:nvPr/>
        </p:nvSpPr>
        <p:spPr>
          <a:xfrm>
            <a:off x="594360" y="886968"/>
            <a:ext cx="10972800" cy="960120"/>
          </a:xfrm>
          <a:prstGeom prst="rect">
            <a:avLst/>
          </a:prstGeom>
          <a:noFill/>
        </p:spPr>
        <p:txBody>
          <a:bodyPr wrap="square" lIns="0" rIns="0" tIns="25400" bIns="0">
            <a:spAutoFit/>
          </a:bodyPr>
          <a:lstStyle/>
          <a:p>
            <a:pPr>
              <a:spcAft>
                <a:spcPts val="900"/>
              </a:spcAft>
              <a:defRPr sz="2800" b="1">
                <a:solidFill>
                  <a:srgbClr val="F5F7FC"/>
                </a:solidFill>
                <a:latin typeface="Noto Sans CJK KR"/>
              </a:defRPr>
            </a:pPr>
            <a:r>
              <a:t>CV와 CS에 기여할 연구 질문</a:t>
            </a:r>
          </a:p>
        </p:txBody>
      </p:sp>
      <p:sp>
        <p:nvSpPr>
          <p:cNvPr id="5" name="TextBox 4"/>
          <p:cNvSpPr txBox="1"/>
          <p:nvPr/>
        </p:nvSpPr>
        <p:spPr>
          <a:xfrm>
            <a:off x="594360" y="1865376"/>
            <a:ext cx="10972800" cy="694944"/>
          </a:xfrm>
          <a:prstGeom prst="rect">
            <a:avLst/>
          </a:prstGeom>
          <a:noFill/>
        </p:spPr>
        <p:txBody>
          <a:bodyPr wrap="square" lIns="0" rIns="0" tIns="25400" bIns="0">
            <a:spAutoFit/>
          </a:bodyPr>
          <a:lstStyle/>
          <a:p>
            <a:pPr>
              <a:spcAft>
                <a:spcPts val="900"/>
              </a:spcAft>
              <a:defRPr sz="1500" b="0">
                <a:solidFill>
                  <a:srgbClr val="ADBBD0"/>
                </a:solidFill>
                <a:latin typeface="Noto Sans CJK KR"/>
              </a:defRPr>
            </a:pPr>
            <a:r>
              <a:t>“4GB 장치에서 정확도·오경보·지연의 균형을 어떻게 확보할 것인가?”</a:t>
            </a:r>
          </a:p>
        </p:txBody>
      </p:sp>
      <p:sp>
        <p:nvSpPr>
          <p:cNvPr id="6" name="TextBox 5"/>
          <p:cNvSpPr txBox="1"/>
          <p:nvPr/>
        </p:nvSpPr>
        <p:spPr>
          <a:xfrm>
            <a:off x="11064240" y="6455664"/>
            <a:ext cx="548640" cy="228600"/>
          </a:xfrm>
          <a:prstGeom prst="rect">
            <a:avLst/>
          </a:prstGeom>
          <a:noFill/>
        </p:spPr>
        <p:txBody>
          <a:bodyPr wrap="square" lIns="0" rIns="0" tIns="25400" bIns="0">
            <a:spAutoFit/>
          </a:bodyPr>
          <a:lstStyle/>
          <a:p>
            <a:pPr>
              <a:spcAft>
                <a:spcPts val="900"/>
              </a:spcAft>
              <a:defRPr sz="1000" b="0">
                <a:solidFill>
                  <a:srgbClr val="ADBBD0"/>
                </a:solidFill>
                <a:latin typeface="Noto Sans CJK KR"/>
              </a:defRPr>
            </a:pPr>
            <a:r>
              <a:t>09</a:t>
            </a:r>
          </a:p>
        </p:txBody>
      </p:sp>
      <p:sp>
        <p:nvSpPr>
          <p:cNvPr id="7" name="Rounded Rectangle 6"/>
          <p:cNvSpPr/>
          <p:nvPr/>
        </p:nvSpPr>
        <p:spPr>
          <a:xfrm>
            <a:off x="594360"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CV · 개인차와 일시적 움직임</a:t>
            </a:r>
          </a:p>
        </p:txBody>
      </p:sp>
      <p:sp>
        <p:nvSpPr>
          <p:cNvPr id="9" name="TextBox 8"/>
          <p:cNvSpPr txBox="1"/>
          <p:nvPr/>
        </p:nvSpPr>
        <p:spPr>
          <a:xfrm>
            <a:off x="777240"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귀–어깨 상대 위치와 몸통 기울기를 분석</a:t>
            </a:r>
          </a:p>
          <a:p>
            <a:pPr>
              <a:spcAft>
                <a:spcPts val="900"/>
              </a:spcAft>
              <a:defRPr sz="1700" b="0">
                <a:solidFill>
                  <a:srgbClr val="F5F7FC"/>
                </a:solidFill>
                <a:latin typeface="Noto Sans CJK KR"/>
              </a:defRPr>
            </a:pPr>
            <a:r>
              <a:t>개인 기준 대비 변화 + 키포인트 신뢰도</a:t>
            </a:r>
          </a:p>
          <a:p>
            <a:pPr>
              <a:spcAft>
                <a:spcPts val="900"/>
              </a:spcAft>
              <a:defRPr sz="1700" b="0">
                <a:solidFill>
                  <a:srgbClr val="F5F7FC"/>
                </a:solidFill>
                <a:latin typeface="Noto Sans CJK KR"/>
              </a:defRPr>
            </a:pPr>
            <a:r>
              <a:t>지속 시간 조건으로 오경보 감소 여부 검증</a:t>
            </a:r>
          </a:p>
        </p:txBody>
      </p:sp>
      <p:sp>
        <p:nvSpPr>
          <p:cNvPr id="10" name="Rounded Rectangle 9"/>
          <p:cNvSpPr/>
          <p:nvPr/>
        </p:nvSpPr>
        <p:spPr>
          <a:xfrm>
            <a:off x="4334256"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CS · 제한된 자원에서 지속 실행</a:t>
            </a:r>
          </a:p>
        </p:txBody>
      </p:sp>
      <p:sp>
        <p:nvSpPr>
          <p:cNvPr id="12" name="TextBox 11"/>
          <p:cNvSpPr txBox="1"/>
          <p:nvPr/>
        </p:nvSpPr>
        <p:spPr>
          <a:xfrm>
            <a:off x="4517136"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고정 길이 프레임 버퍼와 추론 주기 제어</a:t>
            </a:r>
          </a:p>
          <a:p>
            <a:pPr>
              <a:spcAft>
                <a:spcPts val="900"/>
              </a:spcAft>
              <a:defRPr sz="1700" b="0">
                <a:solidFill>
                  <a:srgbClr val="F5F7FC"/>
                </a:solidFill>
                <a:latin typeface="Noto Sans CJK KR"/>
              </a:defRPr>
            </a:pPr>
            <a:r>
              <a:t>모델 정밀도·입력 크기별 지연과 RAM 비교</a:t>
            </a:r>
          </a:p>
          <a:p>
            <a:pPr>
              <a:spcAft>
                <a:spcPts val="900"/>
              </a:spcAft>
              <a:defRPr sz="1700" b="0">
                <a:solidFill>
                  <a:srgbClr val="F5F7FC"/>
                </a:solidFill>
                <a:latin typeface="Noto Sans CJK KR"/>
              </a:defRPr>
            </a:pPr>
            <a:r>
              <a:t>원본 영상 대신 로컬 자세 통계 관리</a:t>
            </a:r>
          </a:p>
        </p:txBody>
      </p:sp>
      <p:sp>
        <p:nvSpPr>
          <p:cNvPr id="13" name="Rounded Rectangle 12"/>
          <p:cNvSpPr/>
          <p:nvPr/>
        </p:nvSpPr>
        <p:spPr>
          <a:xfrm>
            <a:off x="8074152"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기여를 입증하는 비교</a:t>
            </a:r>
          </a:p>
        </p:txBody>
      </p:sp>
      <p:sp>
        <p:nvSpPr>
          <p:cNvPr id="15" name="TextBox 14"/>
          <p:cNvSpPr txBox="1"/>
          <p:nvPr/>
        </p:nvSpPr>
        <p:spPr>
          <a:xfrm>
            <a:off x="8257031"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고정 임계값 vs 개인 기준 적용</a:t>
            </a:r>
          </a:p>
          <a:p>
            <a:pPr>
              <a:spcAft>
                <a:spcPts val="900"/>
              </a:spcAft>
              <a:defRPr sz="1700" b="0">
                <a:solidFill>
                  <a:srgbClr val="F5F7FC"/>
                </a:solidFill>
                <a:latin typeface="Noto Sans CJK KR"/>
              </a:defRPr>
            </a:pPr>
            <a:r>
              <a:t>단일 프레임 vs 지속 시간 적용</a:t>
            </a:r>
          </a:p>
          <a:p>
            <a:pPr>
              <a:spcAft>
                <a:spcPts val="900"/>
              </a:spcAft>
              <a:defRPr sz="1700" b="0">
                <a:solidFill>
                  <a:srgbClr val="F5F7FC"/>
                </a:solidFill>
                <a:latin typeface="Noto Sans CJK KR"/>
              </a:defRPr>
            </a:pPr>
            <a:r>
              <a:t>FP32 vs FP16: 정확도·지연·메모리 비교</a:t>
            </a:r>
          </a:p>
        </p:txBody>
      </p:sp>
      <p:sp>
        <p:nvSpPr>
          <p:cNvPr id="16" name="TextBox 15"/>
          <p:cNvSpPr txBox="1"/>
          <p:nvPr/>
        </p:nvSpPr>
        <p:spPr>
          <a:xfrm>
            <a:off x="594360" y="5943600"/>
            <a:ext cx="11000232" cy="457200"/>
          </a:xfrm>
          <a:prstGeom prst="rect">
            <a:avLst/>
          </a:prstGeom>
          <a:noFill/>
        </p:spPr>
        <p:txBody>
          <a:bodyPr wrap="square" lIns="0" rIns="0" tIns="25400" bIns="0">
            <a:spAutoFit/>
          </a:bodyPr>
          <a:lstStyle/>
          <a:p>
            <a:pPr>
              <a:spcAft>
                <a:spcPts val="900"/>
              </a:spcAft>
              <a:defRPr sz="1300" b="0">
                <a:solidFill>
                  <a:srgbClr val="45D6BE"/>
                </a:solidFill>
                <a:latin typeface="Noto Sans CJK KR"/>
              </a:defRPr>
            </a:pPr>
            <a:r>
              <a:t>제안한 기여는 연구 가설이며, 기존 방법보다 우수하다는 주장은 실험 이후 판단한다.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728"/>
        </a:solidFill>
        <a:effectLst/>
      </p:bgPr>
    </p:bg>
    <p:spTree>
      <p:nvGrpSpPr>
        <p:cNvPr id="1" name=""/>
        <p:cNvGrpSpPr/>
        <p:nvPr/>
      </p:nvGrpSpPr>
      <p:grpSpPr/>
      <p:sp>
        <p:nvSpPr>
          <p:cNvPr id="2" name="Rectangle 1"/>
          <p:cNvSpPr/>
          <p:nvPr/>
        </p:nvSpPr>
        <p:spPr>
          <a:xfrm>
            <a:off x="502920" y="411480"/>
            <a:ext cx="73152" cy="201168"/>
          </a:xfrm>
          <a:prstGeom prst="rect">
            <a:avLst/>
          </a:prstGeom>
          <a:solidFill>
            <a:srgbClr val="45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56616"/>
            <a:ext cx="10058400" cy="320040"/>
          </a:xfrm>
          <a:prstGeom prst="rect">
            <a:avLst/>
          </a:prstGeom>
          <a:noFill/>
        </p:spPr>
        <p:txBody>
          <a:bodyPr wrap="square" lIns="0" rIns="0" tIns="25400" bIns="0">
            <a:spAutoFit/>
          </a:bodyPr>
          <a:lstStyle/>
          <a:p>
            <a:pPr>
              <a:spcAft>
                <a:spcPts val="900"/>
              </a:spcAft>
              <a:defRPr sz="1100" b="1">
                <a:solidFill>
                  <a:srgbClr val="45D6BE"/>
                </a:solidFill>
                <a:latin typeface="Noto Sans CJK KR"/>
              </a:defRPr>
            </a:pPr>
            <a:r>
              <a:t>APPENDIX · 4GB DESIGN</a:t>
            </a:r>
          </a:p>
        </p:txBody>
      </p:sp>
      <p:sp>
        <p:nvSpPr>
          <p:cNvPr id="4" name="TextBox 3"/>
          <p:cNvSpPr txBox="1"/>
          <p:nvPr/>
        </p:nvSpPr>
        <p:spPr>
          <a:xfrm>
            <a:off x="594360" y="886968"/>
            <a:ext cx="10972800" cy="960120"/>
          </a:xfrm>
          <a:prstGeom prst="rect">
            <a:avLst/>
          </a:prstGeom>
          <a:noFill/>
        </p:spPr>
        <p:txBody>
          <a:bodyPr wrap="square" lIns="0" rIns="0" tIns="25400" bIns="0">
            <a:spAutoFit/>
          </a:bodyPr>
          <a:lstStyle/>
          <a:p>
            <a:pPr>
              <a:spcAft>
                <a:spcPts val="900"/>
              </a:spcAft>
              <a:defRPr sz="2800" b="1">
                <a:solidFill>
                  <a:srgbClr val="F5F7FC"/>
                </a:solidFill>
                <a:latin typeface="Noto Sans CJK KR"/>
              </a:defRPr>
            </a:pPr>
            <a:r>
              <a:t>Jetson Nano 4GB에서 실행하기 위한 설계</a:t>
            </a:r>
          </a:p>
        </p:txBody>
      </p:sp>
      <p:sp>
        <p:nvSpPr>
          <p:cNvPr id="5" name="TextBox 4"/>
          <p:cNvSpPr txBox="1"/>
          <p:nvPr/>
        </p:nvSpPr>
        <p:spPr>
          <a:xfrm>
            <a:off x="594360" y="1865376"/>
            <a:ext cx="10972800" cy="694944"/>
          </a:xfrm>
          <a:prstGeom prst="rect">
            <a:avLst/>
          </a:prstGeom>
          <a:noFill/>
        </p:spPr>
        <p:txBody>
          <a:bodyPr wrap="square" lIns="0" rIns="0" tIns="25400" bIns="0">
            <a:spAutoFit/>
          </a:bodyPr>
          <a:lstStyle/>
          <a:p>
            <a:pPr>
              <a:spcAft>
                <a:spcPts val="900"/>
              </a:spcAft>
              <a:defRPr sz="1500" b="0">
                <a:solidFill>
                  <a:srgbClr val="ADBBD0"/>
                </a:solidFill>
                <a:latin typeface="Noto Sans CJK KR"/>
              </a:defRPr>
            </a:pPr>
            <a:r>
              <a:t>학습은 외부 PC, Nano는 단일 사용자 추론·후처리 담당 [H1]</a:t>
            </a:r>
          </a:p>
        </p:txBody>
      </p:sp>
      <p:sp>
        <p:nvSpPr>
          <p:cNvPr id="6" name="TextBox 5"/>
          <p:cNvSpPr txBox="1"/>
          <p:nvPr/>
        </p:nvSpPr>
        <p:spPr>
          <a:xfrm>
            <a:off x="11064240" y="6455664"/>
            <a:ext cx="548640" cy="228600"/>
          </a:xfrm>
          <a:prstGeom prst="rect">
            <a:avLst/>
          </a:prstGeom>
          <a:noFill/>
        </p:spPr>
        <p:txBody>
          <a:bodyPr wrap="square" lIns="0" rIns="0" tIns="25400" bIns="0">
            <a:spAutoFit/>
          </a:bodyPr>
          <a:lstStyle/>
          <a:p>
            <a:pPr>
              <a:spcAft>
                <a:spcPts val="900"/>
              </a:spcAft>
              <a:defRPr sz="1000" b="0">
                <a:solidFill>
                  <a:srgbClr val="ADBBD0"/>
                </a:solidFill>
                <a:latin typeface="Noto Sans CJK KR"/>
              </a:defRPr>
            </a:pPr>
            <a:r>
              <a:t>10</a:t>
            </a:r>
          </a:p>
        </p:txBody>
      </p:sp>
      <p:sp>
        <p:nvSpPr>
          <p:cNvPr id="7" name="Rounded Rectangle 6"/>
          <p:cNvSpPr/>
          <p:nvPr/>
        </p:nvSpPr>
        <p:spPr>
          <a:xfrm>
            <a:off x="594360"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입력·모델 범위</a:t>
            </a:r>
          </a:p>
        </p:txBody>
      </p:sp>
      <p:sp>
        <p:nvSpPr>
          <p:cNvPr id="9" name="TextBox 8"/>
          <p:cNvSpPr txBox="1"/>
          <p:nvPr/>
        </p:nvSpPr>
        <p:spPr>
          <a:xfrm>
            <a:off x="777240"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측면 카메라 1대 / 사용자 1명 / 고정 ROI</a:t>
            </a:r>
          </a:p>
          <a:p>
            <a:pPr>
              <a:spcAft>
                <a:spcPts val="900"/>
              </a:spcAft>
              <a:defRPr sz="1700" b="0">
                <a:solidFill>
                  <a:srgbClr val="F5F7FC"/>
                </a:solidFill>
                <a:latin typeface="Noto Sans CJK KR"/>
              </a:defRPr>
            </a:pPr>
            <a:r>
              <a:t>Lite-HRNet-18을 1차 후보로 검토</a:t>
            </a:r>
          </a:p>
          <a:p>
            <a:pPr>
              <a:spcAft>
                <a:spcPts val="900"/>
              </a:spcAft>
              <a:defRPr sz="1700" b="0">
                <a:solidFill>
                  <a:srgbClr val="F5F7FC"/>
                </a:solidFill>
                <a:latin typeface="Noto Sans CJK KR"/>
              </a:defRPr>
            </a:pPr>
            <a:r>
              <a:t>입력 256×192, batch 1에서 시작</a:t>
            </a:r>
          </a:p>
        </p:txBody>
      </p:sp>
      <p:sp>
        <p:nvSpPr>
          <p:cNvPr id="10" name="Rounded Rectangle 9"/>
          <p:cNvSpPr/>
          <p:nvPr/>
        </p:nvSpPr>
        <p:spPr>
          <a:xfrm>
            <a:off x="4334256"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메모리 관리</a:t>
            </a:r>
          </a:p>
        </p:txBody>
      </p:sp>
      <p:sp>
        <p:nvSpPr>
          <p:cNvPr id="12" name="TextBox 11"/>
          <p:cNvSpPr txBox="1"/>
          <p:nvPr/>
        </p:nvSpPr>
        <p:spPr>
          <a:xfrm>
            <a:off x="4517136"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TensorRT FP16 변환 가능성 우선 확인</a:t>
            </a:r>
          </a:p>
          <a:p>
            <a:pPr>
              <a:spcAft>
                <a:spcPts val="900"/>
              </a:spcAft>
              <a:defRPr sz="1700" b="0">
                <a:solidFill>
                  <a:srgbClr val="F5F7FC"/>
                </a:solidFill>
                <a:latin typeface="Noto Sans CJK KR"/>
              </a:defRPr>
            </a:pPr>
            <a:r>
              <a:t>모델 1개만 상주, 프레임 버퍼 길이 제한</a:t>
            </a:r>
          </a:p>
          <a:p>
            <a:pPr>
              <a:spcAft>
                <a:spcPts val="900"/>
              </a:spcAft>
              <a:defRPr sz="1700" b="0">
                <a:solidFill>
                  <a:srgbClr val="F5F7FC"/>
                </a:solidFill>
                <a:latin typeface="Noto Sans CJK KR"/>
              </a:defRPr>
            </a:pPr>
            <a:r>
              <a:t>OS·공유 GPU·UI 포함 전체 RAM 계측</a:t>
            </a:r>
          </a:p>
        </p:txBody>
      </p:sp>
      <p:sp>
        <p:nvSpPr>
          <p:cNvPr id="13" name="Rounded Rectangle 12"/>
          <p:cNvSpPr/>
          <p:nvPr/>
        </p:nvSpPr>
        <p:spPr>
          <a:xfrm>
            <a:off x="8074152"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운용·성공 기준</a:t>
            </a:r>
          </a:p>
        </p:txBody>
      </p:sp>
      <p:sp>
        <p:nvSpPr>
          <p:cNvPr id="15" name="TextBox 14"/>
          <p:cNvSpPr txBox="1"/>
          <p:nvPr/>
        </p:nvSpPr>
        <p:spPr>
          <a:xfrm>
            <a:off x="8257031"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설계 목표: 5–10 FPS, 최대 RAM 3.5GB 이하</a:t>
            </a:r>
          </a:p>
          <a:p>
            <a:pPr>
              <a:spcAft>
                <a:spcPts val="900"/>
              </a:spcAft>
              <a:defRPr sz="1700" b="0">
                <a:solidFill>
                  <a:srgbClr val="F5F7FC"/>
                </a:solidFill>
                <a:latin typeface="Noto Sans CJK KR"/>
              </a:defRPr>
            </a:pPr>
            <a:r>
              <a:t>30분 연속 실행 시 OOM·swap 의존 없음</a:t>
            </a:r>
          </a:p>
          <a:p>
            <a:pPr>
              <a:spcAft>
                <a:spcPts val="900"/>
              </a:spcAft>
              <a:defRPr sz="1700" b="0">
                <a:solidFill>
                  <a:srgbClr val="F5F7FC"/>
                </a:solidFill>
                <a:latin typeface="Noto Sans CJK KR"/>
              </a:defRPr>
            </a:pPr>
            <a:r>
              <a:t>JetPack 4.6.6 호환성 사전 점검 [H2]</a:t>
            </a:r>
          </a:p>
        </p:txBody>
      </p:sp>
      <p:sp>
        <p:nvSpPr>
          <p:cNvPr id="16" name="TextBox 15"/>
          <p:cNvSpPr txBox="1"/>
          <p:nvPr/>
        </p:nvSpPr>
        <p:spPr>
          <a:xfrm>
            <a:off x="594360" y="5943600"/>
            <a:ext cx="11000232" cy="457200"/>
          </a:xfrm>
          <a:prstGeom prst="rect">
            <a:avLst/>
          </a:prstGeom>
          <a:noFill/>
        </p:spPr>
        <p:txBody>
          <a:bodyPr wrap="square" lIns="0" rIns="0" tIns="25400" bIns="0">
            <a:spAutoFit/>
          </a:bodyPr>
          <a:lstStyle/>
          <a:p>
            <a:pPr>
              <a:spcAft>
                <a:spcPts val="900"/>
              </a:spcAft>
              <a:defRPr sz="1300" b="0">
                <a:solidFill>
                  <a:srgbClr val="45D6BE"/>
                </a:solidFill>
                <a:latin typeface="Noto Sans CJK KR"/>
              </a:defRPr>
            </a:pPr>
            <a:r>
              <a:t>목표치는 실측 결과가 아니다. 모델 크기만으로 실행 메모리나 FPS를 보장할 수 없다.</a:t>
            </a:r>
          </a:p>
        </p:txBody>
      </p:sp>
      <p:sp>
        <p:nvSpPr>
          <p:cNvPr id="17" name="TextBox 16"/>
          <p:cNvSpPr txBox="1"/>
          <p:nvPr/>
        </p:nvSpPr>
        <p:spPr>
          <a:xfrm>
            <a:off x="594360" y="6455664"/>
            <a:ext cx="10241280" cy="246888"/>
          </a:xfrm>
          <a:prstGeom prst="rect">
            <a:avLst/>
          </a:prstGeom>
          <a:noFill/>
        </p:spPr>
        <p:txBody>
          <a:bodyPr wrap="square" lIns="0" rIns="0" tIns="25400" bIns="0">
            <a:spAutoFit/>
          </a:bodyPr>
          <a:lstStyle/>
          <a:p>
            <a:pPr>
              <a:spcAft>
                <a:spcPts val="900"/>
              </a:spcAft>
              <a:defRPr sz="900" b="0">
                <a:solidFill>
                  <a:srgbClr val="ADBBD0"/>
                </a:solidFill>
                <a:latin typeface="Noto Sans CJK KR"/>
              </a:defRPr>
            </a:pPr>
            <a:r>
              <a:rPr sz="800">
                <a:solidFill>
                  <a:srgbClr val="ADBBD0"/>
                </a:solidFill>
                <a:latin typeface="Noto Sans CJK KR"/>
                <a:hlinkClick r:id="rId2"/>
              </a:rPr>
              <a:t>[H1] NVIDIA, Jetson Nano 공식 사양   </a:t>
            </a:r>
            <a:r>
              <a:rPr sz="800">
                <a:solidFill>
                  <a:srgbClr val="ADBBD0"/>
                </a:solidFill>
                <a:latin typeface="Noto Sans CJK KR"/>
                <a:hlinkClick r:id="rId3"/>
              </a:rPr>
              <a:t>[H2] NVIDIA, JetPack 4 최종 릴리스 공지, 2024-11-22   </a:t>
            </a:r>
            <a:r>
              <a:rPr sz="800">
                <a:solidFill>
                  <a:srgbClr val="ADBBD0"/>
                </a:solidFill>
                <a:latin typeface="Noto Sans CJK KR"/>
                <a:hlinkClick r:id="rId4"/>
              </a:rPr>
              <a:t>[P2] Yu et al., Lite-HRNet, CVPR 2021, pp. 10440–10450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728"/>
        </a:solidFill>
        <a:effectLst/>
      </p:bgPr>
    </p:bg>
    <p:spTree>
      <p:nvGrpSpPr>
        <p:cNvPr id="1" name=""/>
        <p:cNvGrpSpPr/>
        <p:nvPr/>
      </p:nvGrpSpPr>
      <p:grpSpPr/>
      <p:sp>
        <p:nvSpPr>
          <p:cNvPr id="2" name="Rectangle 1"/>
          <p:cNvSpPr/>
          <p:nvPr/>
        </p:nvSpPr>
        <p:spPr>
          <a:xfrm>
            <a:off x="502920" y="411480"/>
            <a:ext cx="73152" cy="201168"/>
          </a:xfrm>
          <a:prstGeom prst="rect">
            <a:avLst/>
          </a:prstGeom>
          <a:solidFill>
            <a:srgbClr val="45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56616"/>
            <a:ext cx="10058400" cy="320040"/>
          </a:xfrm>
          <a:prstGeom prst="rect">
            <a:avLst/>
          </a:prstGeom>
          <a:noFill/>
        </p:spPr>
        <p:txBody>
          <a:bodyPr wrap="square" lIns="0" rIns="0" tIns="25400" bIns="0">
            <a:spAutoFit/>
          </a:bodyPr>
          <a:lstStyle/>
          <a:p>
            <a:pPr>
              <a:spcAft>
                <a:spcPts val="900"/>
              </a:spcAft>
              <a:defRPr sz="1100" b="1">
                <a:solidFill>
                  <a:srgbClr val="45D6BE"/>
                </a:solidFill>
                <a:latin typeface="Noto Sans CJK KR"/>
              </a:defRPr>
            </a:pPr>
            <a:r>
              <a:t>APPENDIX · PAPER 01</a:t>
            </a:r>
          </a:p>
        </p:txBody>
      </p:sp>
      <p:sp>
        <p:nvSpPr>
          <p:cNvPr id="4" name="TextBox 3"/>
          <p:cNvSpPr txBox="1"/>
          <p:nvPr/>
        </p:nvSpPr>
        <p:spPr>
          <a:xfrm>
            <a:off x="594360" y="886968"/>
            <a:ext cx="10972800" cy="960120"/>
          </a:xfrm>
          <a:prstGeom prst="rect">
            <a:avLst/>
          </a:prstGeom>
          <a:noFill/>
        </p:spPr>
        <p:txBody>
          <a:bodyPr wrap="square" lIns="0" rIns="0" tIns="25400" bIns="0">
            <a:spAutoFit/>
          </a:bodyPr>
          <a:lstStyle/>
          <a:p>
            <a:pPr>
              <a:spcAft>
                <a:spcPts val="900"/>
              </a:spcAft>
              <a:defRPr sz="2800" b="1">
                <a:solidFill>
                  <a:srgbClr val="F5F7FC"/>
                </a:solidFill>
                <a:latin typeface="Noto Sans CJK KR"/>
              </a:defRPr>
            </a:pPr>
            <a:r>
              <a:t>컴퓨터 작업 중 목·척추 자세 분류</a:t>
            </a:r>
          </a:p>
        </p:txBody>
      </p:sp>
      <p:sp>
        <p:nvSpPr>
          <p:cNvPr id="5" name="TextBox 4"/>
          <p:cNvSpPr txBox="1"/>
          <p:nvPr/>
        </p:nvSpPr>
        <p:spPr>
          <a:xfrm>
            <a:off x="594360" y="1865376"/>
            <a:ext cx="10972800" cy="694944"/>
          </a:xfrm>
          <a:prstGeom prst="rect">
            <a:avLst/>
          </a:prstGeom>
          <a:noFill/>
        </p:spPr>
        <p:txBody>
          <a:bodyPr wrap="square" lIns="0" rIns="0" tIns="25400" bIns="0">
            <a:spAutoFit/>
          </a:bodyPr>
          <a:lstStyle/>
          <a:p>
            <a:pPr>
              <a:spcAft>
                <a:spcPts val="900"/>
              </a:spcAft>
              <a:defRPr sz="1500" b="0">
                <a:solidFill>
                  <a:srgbClr val="ADBBD0"/>
                </a:solidFill>
                <a:latin typeface="Noto Sans CJK KR"/>
              </a:defRPr>
            </a:pPr>
            <a:r>
              <a:t>Classifying Poor Postures of the Neck and Spine in Computer Work</a:t>
            </a:r>
          </a:p>
          <a:p>
            <a:pPr>
              <a:spcAft>
                <a:spcPts val="900"/>
              </a:spcAft>
              <a:defRPr sz="1500" b="0">
                <a:solidFill>
                  <a:srgbClr val="ADBBD0"/>
                </a:solidFill>
                <a:latin typeface="Noto Sans CJK KR"/>
              </a:defRPr>
            </a:pPr>
            <a:r>
              <a:t>by Using Image and Skeleton Analysis</a:t>
            </a:r>
          </a:p>
        </p:txBody>
      </p:sp>
      <p:sp>
        <p:nvSpPr>
          <p:cNvPr id="6" name="TextBox 5"/>
          <p:cNvSpPr txBox="1"/>
          <p:nvPr/>
        </p:nvSpPr>
        <p:spPr>
          <a:xfrm>
            <a:off x="11064240" y="6455664"/>
            <a:ext cx="548640" cy="228600"/>
          </a:xfrm>
          <a:prstGeom prst="rect">
            <a:avLst/>
          </a:prstGeom>
          <a:noFill/>
        </p:spPr>
        <p:txBody>
          <a:bodyPr wrap="square" lIns="0" rIns="0" tIns="25400" bIns="0">
            <a:spAutoFit/>
          </a:bodyPr>
          <a:lstStyle/>
          <a:p>
            <a:pPr>
              <a:spcAft>
                <a:spcPts val="900"/>
              </a:spcAft>
              <a:defRPr sz="1000" b="0">
                <a:solidFill>
                  <a:srgbClr val="ADBBD0"/>
                </a:solidFill>
                <a:latin typeface="Noto Sans CJK KR"/>
              </a:defRPr>
            </a:pPr>
            <a:r>
              <a:t>11</a:t>
            </a:r>
          </a:p>
        </p:txBody>
      </p:sp>
      <p:sp>
        <p:nvSpPr>
          <p:cNvPr id="7" name="Rounded Rectangle 6"/>
          <p:cNvSpPr/>
          <p:nvPr/>
        </p:nvSpPr>
        <p:spPr>
          <a:xfrm>
            <a:off x="594360"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Paper information</a:t>
            </a:r>
          </a:p>
        </p:txBody>
      </p:sp>
      <p:sp>
        <p:nvSpPr>
          <p:cNvPr id="9" name="TextBox 8"/>
          <p:cNvSpPr txBox="1"/>
          <p:nvPr/>
        </p:nvSpPr>
        <p:spPr>
          <a:xfrm>
            <a:off x="777240"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Jaeeun Lee, Hongseok Choi,</a:t>
            </a:r>
          </a:p>
          <a:p>
            <a:pPr>
              <a:spcAft>
                <a:spcPts val="900"/>
              </a:spcAft>
              <a:defRPr sz="1700" b="0">
                <a:solidFill>
                  <a:srgbClr val="F5F7FC"/>
                </a:solidFill>
                <a:latin typeface="Noto Sans CJK KR"/>
              </a:defRPr>
            </a:pPr>
            <a:r>
              <a:t>Kyeongmin Yum, Jongnam Kim</a:t>
            </a:r>
          </a:p>
          <a:p>
            <a:pPr>
              <a:spcAft>
                <a:spcPts val="900"/>
              </a:spcAft>
              <a:defRPr sz="1700" b="0">
                <a:solidFill>
                  <a:srgbClr val="F5F7FC"/>
                </a:solidFill>
                <a:latin typeface="Noto Sans CJK KR"/>
              </a:defRPr>
            </a:pPr>
            <a:r>
              <a:t>Applied Sciences · MDPI · 2023</a:t>
            </a:r>
          </a:p>
        </p:txBody>
      </p:sp>
      <p:sp>
        <p:nvSpPr>
          <p:cNvPr id="10" name="Rounded Rectangle 9"/>
          <p:cNvSpPr/>
          <p:nvPr/>
        </p:nvSpPr>
        <p:spPr>
          <a:xfrm>
            <a:off x="4334256"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국문 초록 요약</a:t>
            </a:r>
          </a:p>
        </p:txBody>
      </p:sp>
      <p:sp>
        <p:nvSpPr>
          <p:cNvPr id="12" name="TextBox 11"/>
          <p:cNvSpPr txBox="1"/>
          <p:nvPr/>
        </p:nvSpPr>
        <p:spPr>
          <a:xfrm>
            <a:off x="4517136"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측면 영상에 OpenPose를 적용하고</a:t>
            </a:r>
          </a:p>
          <a:p>
            <a:pPr>
              <a:spcAft>
                <a:spcPts val="900"/>
              </a:spcAft>
              <a:defRPr sz="1700" b="0">
                <a:solidFill>
                  <a:srgbClr val="F5F7FC"/>
                </a:solidFill>
                <a:latin typeface="Noto Sans CJK KR"/>
              </a:defRPr>
            </a:pPr>
            <a:r>
              <a:t>골격 각도로 정상·text neck·L자세 분류</a:t>
            </a:r>
          </a:p>
          <a:p>
            <a:pPr>
              <a:spcAft>
                <a:spcPts val="900"/>
              </a:spcAft>
              <a:defRPr sz="1700" b="0">
                <a:solidFill>
                  <a:srgbClr val="F5F7FC"/>
                </a:solidFill>
                <a:latin typeface="Noto Sans CJK KR"/>
              </a:defRPr>
            </a:pPr>
            <a:r>
              <a:t>50명, 952장: 정확도 97.06%, F1 95.23%</a:t>
            </a:r>
          </a:p>
        </p:txBody>
      </p:sp>
      <p:sp>
        <p:nvSpPr>
          <p:cNvPr id="13" name="Rounded Rectangle 12"/>
          <p:cNvSpPr/>
          <p:nvPr/>
        </p:nvSpPr>
        <p:spPr>
          <a:xfrm>
            <a:off x="8074152"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활용 및 한계</a:t>
            </a:r>
          </a:p>
        </p:txBody>
      </p:sp>
      <p:sp>
        <p:nvSpPr>
          <p:cNvPr id="15" name="TextBox 14"/>
          <p:cNvSpPr txBox="1"/>
          <p:nvPr/>
        </p:nvSpPr>
        <p:spPr>
          <a:xfrm>
            <a:off x="8257031"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자세 지표와 분류 기준의 출발점</a:t>
            </a:r>
          </a:p>
          <a:p>
            <a:pPr>
              <a:spcAft>
                <a:spcPts val="900"/>
              </a:spcAft>
              <a:defRPr sz="1700" b="0">
                <a:solidFill>
                  <a:srgbClr val="F5F7FC"/>
                </a:solidFill>
                <a:latin typeface="Noto Sans CJK KR"/>
              </a:defRPr>
            </a:pPr>
            <a:r>
              <a:t>PC 기반 보고 수치: Nano 성능 근거 아님</a:t>
            </a:r>
          </a:p>
          <a:p>
            <a:pPr>
              <a:spcAft>
                <a:spcPts val="900"/>
              </a:spcAft>
              <a:defRPr sz="1700" b="0">
                <a:solidFill>
                  <a:srgbClr val="F5F7FC"/>
                </a:solidFill>
                <a:latin typeface="Noto Sans CJK KR"/>
              </a:defRPr>
            </a:pPr>
            <a:r>
              <a:t>개인화·연속 영상 평가는 추가 연구 대상</a:t>
            </a:r>
          </a:p>
        </p:txBody>
      </p:sp>
      <p:sp>
        <p:nvSpPr>
          <p:cNvPr id="16" name="TextBox 15"/>
          <p:cNvSpPr txBox="1"/>
          <p:nvPr/>
        </p:nvSpPr>
        <p:spPr>
          <a:xfrm>
            <a:off x="594360" y="5943600"/>
            <a:ext cx="11000232" cy="457200"/>
          </a:xfrm>
          <a:prstGeom prst="rect">
            <a:avLst/>
          </a:prstGeom>
          <a:noFill/>
        </p:spPr>
        <p:txBody>
          <a:bodyPr wrap="square" lIns="0" rIns="0" tIns="25400" bIns="0">
            <a:spAutoFit/>
          </a:bodyPr>
          <a:lstStyle/>
          <a:p>
            <a:pPr>
              <a:spcAft>
                <a:spcPts val="900"/>
              </a:spcAft>
              <a:defRPr sz="1300" b="0">
                <a:solidFill>
                  <a:srgbClr val="45D6BE"/>
                </a:solidFill>
                <a:latin typeface="Noto Sans CJK KR"/>
              </a:defRPr>
            </a:pPr>
            <a:r>
              <a:t>직접 관련 논문: 자세 분류 문제 설정. MDPI 저널 조건에 해당하며 최상위 학회 논문과 구분.</a:t>
            </a:r>
          </a:p>
        </p:txBody>
      </p:sp>
      <p:sp>
        <p:nvSpPr>
          <p:cNvPr id="17" name="TextBox 16"/>
          <p:cNvSpPr txBox="1"/>
          <p:nvPr/>
        </p:nvSpPr>
        <p:spPr>
          <a:xfrm>
            <a:off x="594360" y="6455664"/>
            <a:ext cx="10241280" cy="246888"/>
          </a:xfrm>
          <a:prstGeom prst="rect">
            <a:avLst/>
          </a:prstGeom>
          <a:noFill/>
        </p:spPr>
        <p:txBody>
          <a:bodyPr wrap="square" lIns="0" rIns="0" tIns="25400" bIns="0">
            <a:spAutoFit/>
          </a:bodyPr>
          <a:lstStyle/>
          <a:p>
            <a:pPr>
              <a:spcAft>
                <a:spcPts val="900"/>
              </a:spcAft>
              <a:defRPr sz="900" b="0">
                <a:solidFill>
                  <a:srgbClr val="ADBBD0"/>
                </a:solidFill>
                <a:latin typeface="Noto Sans CJK KR"/>
              </a:defRPr>
            </a:pPr>
            <a:r>
              <a:rPr sz="800">
                <a:solidFill>
                  <a:srgbClr val="ADBBD0"/>
                </a:solidFill>
                <a:latin typeface="Noto Sans CJK KR"/>
                <a:hlinkClick r:id="rId2"/>
              </a:rPr>
              <a:t>[P1] Lee et al., Applied Sciences 2023, 13(19), 10935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728"/>
        </a:solidFill>
        <a:effectLst/>
      </p:bgPr>
    </p:bg>
    <p:spTree>
      <p:nvGrpSpPr>
        <p:cNvPr id="1" name=""/>
        <p:cNvGrpSpPr/>
        <p:nvPr/>
      </p:nvGrpSpPr>
      <p:grpSpPr/>
      <p:sp>
        <p:nvSpPr>
          <p:cNvPr id="2" name="Rectangle 1"/>
          <p:cNvSpPr/>
          <p:nvPr/>
        </p:nvSpPr>
        <p:spPr>
          <a:xfrm>
            <a:off x="502920" y="411480"/>
            <a:ext cx="73152" cy="201168"/>
          </a:xfrm>
          <a:prstGeom prst="rect">
            <a:avLst/>
          </a:prstGeom>
          <a:solidFill>
            <a:srgbClr val="45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56616"/>
            <a:ext cx="10058400" cy="320040"/>
          </a:xfrm>
          <a:prstGeom prst="rect">
            <a:avLst/>
          </a:prstGeom>
          <a:noFill/>
        </p:spPr>
        <p:txBody>
          <a:bodyPr wrap="square" lIns="0" rIns="0" tIns="25400" bIns="0">
            <a:spAutoFit/>
          </a:bodyPr>
          <a:lstStyle/>
          <a:p>
            <a:pPr>
              <a:spcAft>
                <a:spcPts val="900"/>
              </a:spcAft>
              <a:defRPr sz="1100" b="1">
                <a:solidFill>
                  <a:srgbClr val="45D6BE"/>
                </a:solidFill>
                <a:latin typeface="Noto Sans CJK KR"/>
              </a:defRPr>
            </a:pPr>
            <a:r>
              <a:t>APPENDIX · PAPER 02</a:t>
            </a:r>
          </a:p>
        </p:txBody>
      </p:sp>
      <p:sp>
        <p:nvSpPr>
          <p:cNvPr id="4" name="TextBox 3"/>
          <p:cNvSpPr txBox="1"/>
          <p:nvPr/>
        </p:nvSpPr>
        <p:spPr>
          <a:xfrm>
            <a:off x="594360" y="886968"/>
            <a:ext cx="10972800" cy="960120"/>
          </a:xfrm>
          <a:prstGeom prst="rect">
            <a:avLst/>
          </a:prstGeom>
          <a:noFill/>
        </p:spPr>
        <p:txBody>
          <a:bodyPr wrap="square" lIns="0" rIns="0" tIns="25400" bIns="0">
            <a:spAutoFit/>
          </a:bodyPr>
          <a:lstStyle/>
          <a:p>
            <a:pPr>
              <a:spcAft>
                <a:spcPts val="900"/>
              </a:spcAft>
              <a:defRPr sz="2800" b="1">
                <a:solidFill>
                  <a:srgbClr val="F5F7FC"/>
                </a:solidFill>
                <a:latin typeface="Noto Sans CJK KR"/>
              </a:defRPr>
            </a:pPr>
            <a:r>
              <a:t>Lite-HRNet: 고해상도 특징을 유지하는 경량 모델</a:t>
            </a:r>
          </a:p>
        </p:txBody>
      </p:sp>
      <p:sp>
        <p:nvSpPr>
          <p:cNvPr id="5" name="TextBox 4"/>
          <p:cNvSpPr txBox="1"/>
          <p:nvPr/>
        </p:nvSpPr>
        <p:spPr>
          <a:xfrm>
            <a:off x="594360" y="1865376"/>
            <a:ext cx="10972800" cy="694944"/>
          </a:xfrm>
          <a:prstGeom prst="rect">
            <a:avLst/>
          </a:prstGeom>
          <a:noFill/>
        </p:spPr>
        <p:txBody>
          <a:bodyPr wrap="square" lIns="0" rIns="0" tIns="25400" bIns="0">
            <a:spAutoFit/>
          </a:bodyPr>
          <a:lstStyle/>
          <a:p>
            <a:pPr>
              <a:spcAft>
                <a:spcPts val="900"/>
              </a:spcAft>
              <a:defRPr sz="1500" b="0">
                <a:solidFill>
                  <a:srgbClr val="ADBBD0"/>
                </a:solidFill>
                <a:latin typeface="Noto Sans CJK KR"/>
              </a:defRPr>
            </a:pPr>
            <a:r>
              <a:t>Lite-HRNet: A Lightweight High-Resolution Network</a:t>
            </a:r>
          </a:p>
        </p:txBody>
      </p:sp>
      <p:sp>
        <p:nvSpPr>
          <p:cNvPr id="6" name="TextBox 5"/>
          <p:cNvSpPr txBox="1"/>
          <p:nvPr/>
        </p:nvSpPr>
        <p:spPr>
          <a:xfrm>
            <a:off x="11064240" y="6455664"/>
            <a:ext cx="548640" cy="228600"/>
          </a:xfrm>
          <a:prstGeom prst="rect">
            <a:avLst/>
          </a:prstGeom>
          <a:noFill/>
        </p:spPr>
        <p:txBody>
          <a:bodyPr wrap="square" lIns="0" rIns="0" tIns="25400" bIns="0">
            <a:spAutoFit/>
          </a:bodyPr>
          <a:lstStyle/>
          <a:p>
            <a:pPr>
              <a:spcAft>
                <a:spcPts val="900"/>
              </a:spcAft>
              <a:defRPr sz="1000" b="0">
                <a:solidFill>
                  <a:srgbClr val="ADBBD0"/>
                </a:solidFill>
                <a:latin typeface="Noto Sans CJK KR"/>
              </a:defRPr>
            </a:pPr>
            <a:r>
              <a:t>12</a:t>
            </a:r>
          </a:p>
        </p:txBody>
      </p:sp>
      <p:sp>
        <p:nvSpPr>
          <p:cNvPr id="7" name="Rounded Rectangle 6"/>
          <p:cNvSpPr/>
          <p:nvPr/>
        </p:nvSpPr>
        <p:spPr>
          <a:xfrm>
            <a:off x="594360"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Paper information</a:t>
            </a:r>
          </a:p>
        </p:txBody>
      </p:sp>
      <p:sp>
        <p:nvSpPr>
          <p:cNvPr id="9" name="TextBox 8"/>
          <p:cNvSpPr txBox="1"/>
          <p:nvPr/>
        </p:nvSpPr>
        <p:spPr>
          <a:xfrm>
            <a:off x="777240"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Changqian Yu et al.</a:t>
            </a:r>
          </a:p>
          <a:p>
            <a:pPr>
              <a:spcAft>
                <a:spcPts val="900"/>
              </a:spcAft>
              <a:defRPr sz="1700" b="0">
                <a:solidFill>
                  <a:srgbClr val="F5F7FC"/>
                </a:solidFill>
                <a:latin typeface="Noto Sans CJK KR"/>
              </a:defRPr>
            </a:pPr>
            <a:r>
              <a:t>CVPR 2021 · pp. 10440–10450</a:t>
            </a:r>
          </a:p>
          <a:p>
            <a:pPr>
              <a:spcAft>
                <a:spcPts val="900"/>
              </a:spcAft>
              <a:defRPr sz="1700" b="0">
                <a:solidFill>
                  <a:srgbClr val="F5F7FC"/>
                </a:solidFill>
                <a:latin typeface="Noto Sans CJK KR"/>
              </a:defRPr>
            </a:pPr>
            <a:r>
              <a:t>과제의 Top-tier 학회 조건 충족</a:t>
            </a:r>
          </a:p>
        </p:txBody>
      </p:sp>
      <p:sp>
        <p:nvSpPr>
          <p:cNvPr id="10" name="Rounded Rectangle 9"/>
          <p:cNvSpPr/>
          <p:nvPr/>
        </p:nvSpPr>
        <p:spPr>
          <a:xfrm>
            <a:off x="4334256"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국문 초록 요약</a:t>
            </a:r>
          </a:p>
        </p:txBody>
      </p:sp>
      <p:sp>
        <p:nvSpPr>
          <p:cNvPr id="12" name="TextBox 11"/>
          <p:cNvSpPr txBox="1"/>
          <p:nvPr/>
        </p:nvSpPr>
        <p:spPr>
          <a:xfrm>
            <a:off x="4517136"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고비용 1×1 합성곱을 줄이기 위해</a:t>
            </a:r>
          </a:p>
          <a:p>
            <a:pPr>
              <a:spcAft>
                <a:spcPts val="900"/>
              </a:spcAft>
              <a:defRPr sz="1700" b="0">
                <a:solidFill>
                  <a:srgbClr val="F5F7FC"/>
                </a:solidFill>
                <a:latin typeface="Noto Sans CJK KR"/>
              </a:defRPr>
            </a:pPr>
            <a:r>
              <a:t>조건부 채널 가중치를 활용</a:t>
            </a:r>
          </a:p>
          <a:p>
            <a:pPr>
              <a:spcAft>
                <a:spcPts val="900"/>
              </a:spcAft>
              <a:defRPr sz="1700" b="0">
                <a:solidFill>
                  <a:srgbClr val="F5F7FC"/>
                </a:solidFill>
                <a:latin typeface="Noto Sans CJK KR"/>
              </a:defRPr>
            </a:pPr>
            <a:r>
              <a:t>여러 해상도의 정보를 교환하며 자세 추정</a:t>
            </a:r>
          </a:p>
        </p:txBody>
      </p:sp>
      <p:sp>
        <p:nvSpPr>
          <p:cNvPr id="13" name="Rounded Rectangle 12"/>
          <p:cNvSpPr/>
          <p:nvPr/>
        </p:nvSpPr>
        <p:spPr>
          <a:xfrm>
            <a:off x="8074152"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활용 및 한계</a:t>
            </a:r>
          </a:p>
        </p:txBody>
      </p:sp>
      <p:sp>
        <p:nvSpPr>
          <p:cNvPr id="15" name="TextBox 14"/>
          <p:cNvSpPr txBox="1"/>
          <p:nvPr/>
        </p:nvSpPr>
        <p:spPr>
          <a:xfrm>
            <a:off x="8257031"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경량 키포인트 추정의 1차 구현 후보</a:t>
            </a:r>
          </a:p>
          <a:p>
            <a:pPr>
              <a:spcAft>
                <a:spcPts val="900"/>
              </a:spcAft>
              <a:defRPr sz="1700" b="0">
                <a:solidFill>
                  <a:srgbClr val="F5F7FC"/>
                </a:solidFill>
                <a:latin typeface="Noto Sans CJK KR"/>
              </a:defRPr>
            </a:pPr>
            <a:r>
              <a:t>고정 사용자 영역으로 입력 구성 단순화</a:t>
            </a:r>
          </a:p>
          <a:p>
            <a:pPr>
              <a:spcAft>
                <a:spcPts val="900"/>
              </a:spcAft>
              <a:defRPr sz="1700" b="0">
                <a:solidFill>
                  <a:srgbClr val="F5F7FC"/>
                </a:solidFill>
                <a:latin typeface="Noto Sans CJK KR"/>
              </a:defRPr>
            </a:pPr>
            <a:r>
              <a:t>측면·책상 가림 및 Nano 배포는 별도 검증</a:t>
            </a:r>
          </a:p>
        </p:txBody>
      </p:sp>
      <p:sp>
        <p:nvSpPr>
          <p:cNvPr id="16" name="TextBox 15"/>
          <p:cNvSpPr txBox="1"/>
          <p:nvPr/>
        </p:nvSpPr>
        <p:spPr>
          <a:xfrm>
            <a:off x="594360" y="5943600"/>
            <a:ext cx="11000232" cy="457200"/>
          </a:xfrm>
          <a:prstGeom prst="rect">
            <a:avLst/>
          </a:prstGeom>
          <a:noFill/>
        </p:spPr>
        <p:txBody>
          <a:bodyPr wrap="square" lIns="0" rIns="0" tIns="25400" bIns="0">
            <a:spAutoFit/>
          </a:bodyPr>
          <a:lstStyle/>
          <a:p>
            <a:pPr>
              <a:spcAft>
                <a:spcPts val="900"/>
              </a:spcAft>
              <a:defRPr sz="1300" b="0">
                <a:solidFill>
                  <a:srgbClr val="45D6BE"/>
                </a:solidFill>
                <a:latin typeface="Noto Sans CJK KR"/>
              </a:defRPr>
            </a:pPr>
            <a:r>
              <a:t>활용 방식: 원본 네트워크를 기준 모델로 사용하고 개인화·시간 조건의 효과를 분리 평가.</a:t>
            </a:r>
          </a:p>
        </p:txBody>
      </p:sp>
      <p:sp>
        <p:nvSpPr>
          <p:cNvPr id="17" name="TextBox 16"/>
          <p:cNvSpPr txBox="1"/>
          <p:nvPr/>
        </p:nvSpPr>
        <p:spPr>
          <a:xfrm>
            <a:off x="594360" y="6455664"/>
            <a:ext cx="10241280" cy="246888"/>
          </a:xfrm>
          <a:prstGeom prst="rect">
            <a:avLst/>
          </a:prstGeom>
          <a:noFill/>
        </p:spPr>
        <p:txBody>
          <a:bodyPr wrap="square" lIns="0" rIns="0" tIns="25400" bIns="0">
            <a:spAutoFit/>
          </a:bodyPr>
          <a:lstStyle/>
          <a:p>
            <a:pPr>
              <a:spcAft>
                <a:spcPts val="900"/>
              </a:spcAft>
              <a:defRPr sz="900" b="0">
                <a:solidFill>
                  <a:srgbClr val="ADBBD0"/>
                </a:solidFill>
                <a:latin typeface="Noto Sans CJK KR"/>
              </a:defRPr>
            </a:pPr>
            <a:r>
              <a:rPr sz="800">
                <a:solidFill>
                  <a:srgbClr val="ADBBD0"/>
                </a:solidFill>
                <a:latin typeface="Noto Sans CJK KR"/>
                <a:hlinkClick r:id="rId2"/>
              </a:rPr>
              <a:t>[P2] Yu et al., Lite-HRNet, CVPR 2021, pp. 10440–10450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728"/>
        </a:solidFill>
        <a:effectLst/>
      </p:bgPr>
    </p:bg>
    <p:spTree>
      <p:nvGrpSpPr>
        <p:cNvPr id="1" name=""/>
        <p:cNvGrpSpPr/>
        <p:nvPr/>
      </p:nvGrpSpPr>
      <p:grpSpPr/>
      <p:sp>
        <p:nvSpPr>
          <p:cNvPr id="2" name="Rectangle 1"/>
          <p:cNvSpPr/>
          <p:nvPr/>
        </p:nvSpPr>
        <p:spPr>
          <a:xfrm>
            <a:off x="502920" y="411480"/>
            <a:ext cx="73152" cy="201168"/>
          </a:xfrm>
          <a:prstGeom prst="rect">
            <a:avLst/>
          </a:prstGeom>
          <a:solidFill>
            <a:srgbClr val="45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56616"/>
            <a:ext cx="10058400" cy="320040"/>
          </a:xfrm>
          <a:prstGeom prst="rect">
            <a:avLst/>
          </a:prstGeom>
          <a:noFill/>
        </p:spPr>
        <p:txBody>
          <a:bodyPr wrap="square" lIns="0" rIns="0" tIns="25400" bIns="0">
            <a:spAutoFit/>
          </a:bodyPr>
          <a:lstStyle/>
          <a:p>
            <a:pPr>
              <a:spcAft>
                <a:spcPts val="900"/>
              </a:spcAft>
              <a:defRPr sz="1100" b="1">
                <a:solidFill>
                  <a:srgbClr val="45D6BE"/>
                </a:solidFill>
                <a:latin typeface="Noto Sans CJK KR"/>
              </a:defRPr>
            </a:pPr>
            <a:r>
              <a:t>APPENDIX · PAPER 03</a:t>
            </a:r>
          </a:p>
        </p:txBody>
      </p:sp>
      <p:sp>
        <p:nvSpPr>
          <p:cNvPr id="4" name="TextBox 3"/>
          <p:cNvSpPr txBox="1"/>
          <p:nvPr/>
        </p:nvSpPr>
        <p:spPr>
          <a:xfrm>
            <a:off x="594360" y="886968"/>
            <a:ext cx="10972800" cy="960120"/>
          </a:xfrm>
          <a:prstGeom prst="rect">
            <a:avLst/>
          </a:prstGeom>
          <a:noFill/>
        </p:spPr>
        <p:txBody>
          <a:bodyPr wrap="square" lIns="0" rIns="0" tIns="25400" bIns="0">
            <a:spAutoFit/>
          </a:bodyPr>
          <a:lstStyle/>
          <a:p>
            <a:pPr>
              <a:spcAft>
                <a:spcPts val="900"/>
              </a:spcAft>
              <a:defRPr sz="2800" b="1">
                <a:solidFill>
                  <a:srgbClr val="F5F7FC"/>
                </a:solidFill>
                <a:latin typeface="Noto Sans CJK KR"/>
              </a:defRPr>
            </a:pPr>
            <a:r>
              <a:t>Lite Pose: 엣지 장치를 위한 효율적 구조 설계</a:t>
            </a:r>
          </a:p>
        </p:txBody>
      </p:sp>
      <p:sp>
        <p:nvSpPr>
          <p:cNvPr id="5" name="TextBox 4"/>
          <p:cNvSpPr txBox="1"/>
          <p:nvPr/>
        </p:nvSpPr>
        <p:spPr>
          <a:xfrm>
            <a:off x="594360" y="1865376"/>
            <a:ext cx="10972800" cy="694944"/>
          </a:xfrm>
          <a:prstGeom prst="rect">
            <a:avLst/>
          </a:prstGeom>
          <a:noFill/>
        </p:spPr>
        <p:txBody>
          <a:bodyPr wrap="square" lIns="0" rIns="0" tIns="25400" bIns="0">
            <a:spAutoFit/>
          </a:bodyPr>
          <a:lstStyle/>
          <a:p>
            <a:pPr>
              <a:spcAft>
                <a:spcPts val="900"/>
              </a:spcAft>
              <a:defRPr sz="1500" b="0">
                <a:solidFill>
                  <a:srgbClr val="ADBBD0"/>
                </a:solidFill>
                <a:latin typeface="Noto Sans CJK KR"/>
              </a:defRPr>
            </a:pPr>
            <a:r>
              <a:t>Lite Pose: Efficient Architecture Design for 2D Human Pose Estimation</a:t>
            </a:r>
          </a:p>
        </p:txBody>
      </p:sp>
      <p:sp>
        <p:nvSpPr>
          <p:cNvPr id="6" name="TextBox 5"/>
          <p:cNvSpPr txBox="1"/>
          <p:nvPr/>
        </p:nvSpPr>
        <p:spPr>
          <a:xfrm>
            <a:off x="11064240" y="6455664"/>
            <a:ext cx="548640" cy="228600"/>
          </a:xfrm>
          <a:prstGeom prst="rect">
            <a:avLst/>
          </a:prstGeom>
          <a:noFill/>
        </p:spPr>
        <p:txBody>
          <a:bodyPr wrap="square" lIns="0" rIns="0" tIns="25400" bIns="0">
            <a:spAutoFit/>
          </a:bodyPr>
          <a:lstStyle/>
          <a:p>
            <a:pPr>
              <a:spcAft>
                <a:spcPts val="900"/>
              </a:spcAft>
              <a:defRPr sz="1000" b="0">
                <a:solidFill>
                  <a:srgbClr val="ADBBD0"/>
                </a:solidFill>
                <a:latin typeface="Noto Sans CJK KR"/>
              </a:defRPr>
            </a:pPr>
            <a:r>
              <a:t>13</a:t>
            </a:r>
          </a:p>
        </p:txBody>
      </p:sp>
      <p:sp>
        <p:nvSpPr>
          <p:cNvPr id="7" name="Rounded Rectangle 6"/>
          <p:cNvSpPr/>
          <p:nvPr/>
        </p:nvSpPr>
        <p:spPr>
          <a:xfrm>
            <a:off x="594360"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Paper information</a:t>
            </a:r>
          </a:p>
        </p:txBody>
      </p:sp>
      <p:sp>
        <p:nvSpPr>
          <p:cNvPr id="9" name="TextBox 8"/>
          <p:cNvSpPr txBox="1"/>
          <p:nvPr/>
        </p:nvSpPr>
        <p:spPr>
          <a:xfrm>
            <a:off x="777240"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Yihan Wang, Muyang Li, Han Cai,</a:t>
            </a:r>
          </a:p>
          <a:p>
            <a:pPr>
              <a:spcAft>
                <a:spcPts val="900"/>
              </a:spcAft>
              <a:defRPr sz="1700" b="0">
                <a:solidFill>
                  <a:srgbClr val="F5F7FC"/>
                </a:solidFill>
                <a:latin typeface="Noto Sans CJK KR"/>
              </a:defRPr>
            </a:pPr>
            <a:r>
              <a:t>Wei-Ming Chen, Song Han</a:t>
            </a:r>
          </a:p>
          <a:p>
            <a:pPr>
              <a:spcAft>
                <a:spcPts val="900"/>
              </a:spcAft>
              <a:defRPr sz="1700" b="0">
                <a:solidFill>
                  <a:srgbClr val="F5F7FC"/>
                </a:solidFill>
                <a:latin typeface="Noto Sans CJK KR"/>
              </a:defRPr>
            </a:pPr>
            <a:r>
              <a:t>CVPR 2022 · pp. 13126–13136</a:t>
            </a:r>
          </a:p>
        </p:txBody>
      </p:sp>
      <p:sp>
        <p:nvSpPr>
          <p:cNvPr id="10" name="Rounded Rectangle 9"/>
          <p:cNvSpPr/>
          <p:nvPr/>
        </p:nvSpPr>
        <p:spPr>
          <a:xfrm>
            <a:off x="4334256"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국문 초록 요약</a:t>
            </a:r>
          </a:p>
        </p:txBody>
      </p:sp>
      <p:sp>
        <p:nvSpPr>
          <p:cNvPr id="12" name="TextBox 11"/>
          <p:cNvSpPr txBox="1"/>
          <p:nvPr/>
        </p:nvSpPr>
        <p:spPr>
          <a:xfrm>
            <a:off x="4517136"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저연산 조건에서 고해상도 분기의</a:t>
            </a:r>
          </a:p>
          <a:p>
            <a:pPr>
              <a:spcAft>
                <a:spcPts val="900"/>
              </a:spcAft>
              <a:defRPr sz="1700" b="0">
                <a:solidFill>
                  <a:srgbClr val="F5F7FC"/>
                </a:solidFill>
                <a:latin typeface="Noto Sans CJK KR"/>
              </a:defRPr>
            </a:pPr>
            <a:r>
              <a:t>중복을 분석하고 단일 분기 구조 설계</a:t>
            </a:r>
          </a:p>
          <a:p>
            <a:pPr>
              <a:spcAft>
                <a:spcPts val="900"/>
              </a:spcAft>
              <a:defRPr sz="1700" b="0">
                <a:solidFill>
                  <a:srgbClr val="F5F7FC"/>
                </a:solidFill>
                <a:latin typeface="Noto Sans CJK KR"/>
              </a:defRPr>
            </a:pPr>
            <a:r>
              <a:t>특징 융합·큰 커널로 추정 성능 보완</a:t>
            </a:r>
          </a:p>
        </p:txBody>
      </p:sp>
      <p:sp>
        <p:nvSpPr>
          <p:cNvPr id="13" name="Rounded Rectangle 12"/>
          <p:cNvSpPr/>
          <p:nvPr/>
        </p:nvSpPr>
        <p:spPr>
          <a:xfrm>
            <a:off x="8074152"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활용 및 한계</a:t>
            </a:r>
          </a:p>
        </p:txBody>
      </p:sp>
      <p:sp>
        <p:nvSpPr>
          <p:cNvPr id="15" name="TextBox 14"/>
          <p:cNvSpPr txBox="1"/>
          <p:nvPr/>
        </p:nvSpPr>
        <p:spPr>
          <a:xfrm>
            <a:off x="8257031"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경량 구조 선택과 효율 평가의 비교 근거</a:t>
            </a:r>
          </a:p>
          <a:p>
            <a:pPr>
              <a:spcAft>
                <a:spcPts val="900"/>
              </a:spcAft>
              <a:defRPr sz="1700" b="0">
                <a:solidFill>
                  <a:srgbClr val="F5F7FC"/>
                </a:solidFill>
                <a:latin typeface="Noto Sans CJK KR"/>
              </a:defRPr>
            </a:pPr>
            <a:r>
              <a:t>다중 인물 연구를 단일 사용자로 적용 검토</a:t>
            </a:r>
          </a:p>
          <a:p>
            <a:pPr>
              <a:spcAft>
                <a:spcPts val="900"/>
              </a:spcAft>
              <a:defRPr sz="1700" b="0">
                <a:solidFill>
                  <a:srgbClr val="F5F7FC"/>
                </a:solidFill>
                <a:latin typeface="Noto Sans CJK KR"/>
              </a:defRPr>
            </a:pPr>
            <a:r>
              <a:t>논문상 모바일 성능을 Nano에 대입하지 않음</a:t>
            </a:r>
          </a:p>
        </p:txBody>
      </p:sp>
      <p:sp>
        <p:nvSpPr>
          <p:cNvPr id="16" name="TextBox 15"/>
          <p:cNvSpPr txBox="1"/>
          <p:nvPr/>
        </p:nvSpPr>
        <p:spPr>
          <a:xfrm>
            <a:off x="594360" y="5943600"/>
            <a:ext cx="11000232" cy="457200"/>
          </a:xfrm>
          <a:prstGeom prst="rect">
            <a:avLst/>
          </a:prstGeom>
          <a:noFill/>
        </p:spPr>
        <p:txBody>
          <a:bodyPr wrap="square" lIns="0" rIns="0" tIns="25400" bIns="0">
            <a:spAutoFit/>
          </a:bodyPr>
          <a:lstStyle/>
          <a:p>
            <a:pPr>
              <a:spcAft>
                <a:spcPts val="900"/>
              </a:spcAft>
              <a:defRPr sz="1300" b="0">
                <a:solidFill>
                  <a:srgbClr val="45D6BE"/>
                </a:solidFill>
                <a:latin typeface="Noto Sans CJK KR"/>
              </a:defRPr>
            </a:pPr>
            <a:r>
              <a:t>논문 3편의 역할: 자세 분류 근거(P1) + 경량 기준 모델(P2) + 효율 설계 비교(P3).</a:t>
            </a:r>
          </a:p>
        </p:txBody>
      </p:sp>
      <p:sp>
        <p:nvSpPr>
          <p:cNvPr id="17" name="TextBox 16"/>
          <p:cNvSpPr txBox="1"/>
          <p:nvPr/>
        </p:nvSpPr>
        <p:spPr>
          <a:xfrm>
            <a:off x="594360" y="6455664"/>
            <a:ext cx="10241280" cy="246888"/>
          </a:xfrm>
          <a:prstGeom prst="rect">
            <a:avLst/>
          </a:prstGeom>
          <a:noFill/>
        </p:spPr>
        <p:txBody>
          <a:bodyPr wrap="square" lIns="0" rIns="0" tIns="25400" bIns="0">
            <a:spAutoFit/>
          </a:bodyPr>
          <a:lstStyle/>
          <a:p>
            <a:pPr>
              <a:spcAft>
                <a:spcPts val="900"/>
              </a:spcAft>
              <a:defRPr sz="900" b="0">
                <a:solidFill>
                  <a:srgbClr val="ADBBD0"/>
                </a:solidFill>
                <a:latin typeface="Noto Sans CJK KR"/>
              </a:defRPr>
            </a:pPr>
            <a:r>
              <a:rPr sz="800">
                <a:solidFill>
                  <a:srgbClr val="ADBBD0"/>
                </a:solidFill>
                <a:latin typeface="Noto Sans CJK KR"/>
                <a:hlinkClick r:id="rId2"/>
              </a:rPr>
              <a:t>[P3] Wang et al., Lite Pose, CVPR 2022, pp. 13126–13136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728"/>
        </a:solidFill>
        <a:effectLst/>
      </p:bgPr>
    </p:bg>
    <p:spTree>
      <p:nvGrpSpPr>
        <p:cNvPr id="1" name=""/>
        <p:cNvGrpSpPr/>
        <p:nvPr/>
      </p:nvGrpSpPr>
      <p:grpSpPr/>
      <p:sp>
        <p:nvSpPr>
          <p:cNvPr id="2" name="Rectangle 1"/>
          <p:cNvSpPr/>
          <p:nvPr/>
        </p:nvSpPr>
        <p:spPr>
          <a:xfrm>
            <a:off x="502920" y="411480"/>
            <a:ext cx="73152" cy="201168"/>
          </a:xfrm>
          <a:prstGeom prst="rect">
            <a:avLst/>
          </a:prstGeom>
          <a:solidFill>
            <a:srgbClr val="45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56616"/>
            <a:ext cx="10058400" cy="320040"/>
          </a:xfrm>
          <a:prstGeom prst="rect">
            <a:avLst/>
          </a:prstGeom>
          <a:noFill/>
        </p:spPr>
        <p:txBody>
          <a:bodyPr wrap="square" lIns="0" rIns="0" tIns="25400" bIns="0">
            <a:spAutoFit/>
          </a:bodyPr>
          <a:lstStyle/>
          <a:p>
            <a:pPr>
              <a:spcAft>
                <a:spcPts val="900"/>
              </a:spcAft>
              <a:defRPr sz="1100" b="1">
                <a:solidFill>
                  <a:srgbClr val="45D6BE"/>
                </a:solidFill>
                <a:latin typeface="Noto Sans CJK KR"/>
              </a:defRPr>
            </a:pPr>
            <a:r>
              <a:t>APPENDIX · EVALUATION</a:t>
            </a:r>
          </a:p>
        </p:txBody>
      </p:sp>
      <p:sp>
        <p:nvSpPr>
          <p:cNvPr id="4" name="TextBox 3"/>
          <p:cNvSpPr txBox="1"/>
          <p:nvPr/>
        </p:nvSpPr>
        <p:spPr>
          <a:xfrm>
            <a:off x="594360" y="886968"/>
            <a:ext cx="10972800" cy="960120"/>
          </a:xfrm>
          <a:prstGeom prst="rect">
            <a:avLst/>
          </a:prstGeom>
          <a:noFill/>
        </p:spPr>
        <p:txBody>
          <a:bodyPr wrap="square" lIns="0" rIns="0" tIns="25400" bIns="0">
            <a:spAutoFit/>
          </a:bodyPr>
          <a:lstStyle/>
          <a:p>
            <a:pPr>
              <a:spcAft>
                <a:spcPts val="900"/>
              </a:spcAft>
              <a:defRPr sz="2800" b="1">
                <a:solidFill>
                  <a:srgbClr val="F5F7FC"/>
                </a:solidFill>
                <a:latin typeface="Noto Sans CJK KR"/>
              </a:defRPr>
            </a:pPr>
            <a:r>
              <a:t>감지부터 자세 복귀까지 검증</a:t>
            </a:r>
          </a:p>
        </p:txBody>
      </p:sp>
      <p:sp>
        <p:nvSpPr>
          <p:cNvPr id="5" name="TextBox 4"/>
          <p:cNvSpPr txBox="1"/>
          <p:nvPr/>
        </p:nvSpPr>
        <p:spPr>
          <a:xfrm>
            <a:off x="594360" y="1865376"/>
            <a:ext cx="10972800" cy="694944"/>
          </a:xfrm>
          <a:prstGeom prst="rect">
            <a:avLst/>
          </a:prstGeom>
          <a:noFill/>
        </p:spPr>
        <p:txBody>
          <a:bodyPr wrap="square" lIns="0" rIns="0" tIns="25400" bIns="0">
            <a:spAutoFit/>
          </a:bodyPr>
          <a:lstStyle/>
          <a:p>
            <a:pPr>
              <a:spcAft>
                <a:spcPts val="900"/>
              </a:spcAft>
              <a:defRPr sz="1500" b="0">
                <a:solidFill>
                  <a:srgbClr val="ADBBD0"/>
                </a:solidFill>
                <a:latin typeface="Noto Sans CJK KR"/>
              </a:defRPr>
            </a:pPr>
            <a:r>
              <a:t>측면 카메라 → 키포인트 → 기준 대비 변화 → 지속 시간 판단 → 알림</a:t>
            </a:r>
          </a:p>
        </p:txBody>
      </p:sp>
      <p:sp>
        <p:nvSpPr>
          <p:cNvPr id="6" name="TextBox 5"/>
          <p:cNvSpPr txBox="1"/>
          <p:nvPr/>
        </p:nvSpPr>
        <p:spPr>
          <a:xfrm>
            <a:off x="11064240" y="6455664"/>
            <a:ext cx="548640" cy="228600"/>
          </a:xfrm>
          <a:prstGeom prst="rect">
            <a:avLst/>
          </a:prstGeom>
          <a:noFill/>
        </p:spPr>
        <p:txBody>
          <a:bodyPr wrap="square" lIns="0" rIns="0" tIns="25400" bIns="0">
            <a:spAutoFit/>
          </a:bodyPr>
          <a:lstStyle/>
          <a:p>
            <a:pPr>
              <a:spcAft>
                <a:spcPts val="900"/>
              </a:spcAft>
              <a:defRPr sz="1000" b="0">
                <a:solidFill>
                  <a:srgbClr val="ADBBD0"/>
                </a:solidFill>
                <a:latin typeface="Noto Sans CJK KR"/>
              </a:defRPr>
            </a:pPr>
            <a:r>
              <a:t>14</a:t>
            </a:r>
          </a:p>
        </p:txBody>
      </p:sp>
      <p:sp>
        <p:nvSpPr>
          <p:cNvPr id="7" name="Rounded Rectangle 6"/>
          <p:cNvSpPr/>
          <p:nvPr/>
        </p:nvSpPr>
        <p:spPr>
          <a:xfrm>
            <a:off x="594360"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데이터와 정답</a:t>
            </a:r>
          </a:p>
        </p:txBody>
      </p:sp>
      <p:sp>
        <p:nvSpPr>
          <p:cNvPr id="9" name="TextBox 8"/>
          <p:cNvSpPr txBox="1"/>
          <p:nvPr/>
        </p:nvSpPr>
        <p:spPr>
          <a:xfrm>
            <a:off x="777240"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수집 동의를 받은 성인 15–20명 목표</a:t>
            </a:r>
          </a:p>
          <a:p>
            <a:pPr>
              <a:spcAft>
                <a:spcPts val="900"/>
              </a:spcAft>
              <a:defRPr sz="1700" b="0">
                <a:solidFill>
                  <a:srgbClr val="F5F7FC"/>
                </a:solidFill>
                <a:latin typeface="Noto Sans CJK KR"/>
              </a:defRPr>
            </a:pPr>
            <a:r>
              <a:t>귀·어깨·엉덩이가 보이는 측면 영상</a:t>
            </a:r>
          </a:p>
          <a:p>
            <a:pPr>
              <a:spcAft>
                <a:spcPts val="900"/>
              </a:spcAft>
              <a:defRPr sz="1700" b="0">
                <a:solidFill>
                  <a:srgbClr val="F5F7FC"/>
                </a:solidFill>
                <a:latin typeface="Noto Sans CJK KR"/>
              </a:defRPr>
            </a:pPr>
            <a:r>
              <a:t>사용자 단위 학습·검증·시험 분리</a:t>
            </a:r>
          </a:p>
        </p:txBody>
      </p:sp>
      <p:sp>
        <p:nvSpPr>
          <p:cNvPr id="10" name="Rounded Rectangle 9"/>
          <p:cNvSpPr/>
          <p:nvPr/>
        </p:nvSpPr>
        <p:spPr>
          <a:xfrm>
            <a:off x="4334256"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감지와 시스템 평가</a:t>
            </a:r>
          </a:p>
        </p:txBody>
      </p:sp>
      <p:sp>
        <p:nvSpPr>
          <p:cNvPr id="12" name="TextBox 11"/>
          <p:cNvSpPr txBox="1"/>
          <p:nvPr/>
        </p:nvSpPr>
        <p:spPr>
          <a:xfrm>
            <a:off x="4517136"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Macro-F1 / 전방머리자세 재현율</a:t>
            </a:r>
          </a:p>
          <a:p>
            <a:pPr>
              <a:spcAft>
                <a:spcPts val="900"/>
              </a:spcAft>
              <a:defRPr sz="1700" b="0">
                <a:solidFill>
                  <a:srgbClr val="F5F7FC"/>
                </a:solidFill>
                <a:latin typeface="Noto Sans CJK KR"/>
              </a:defRPr>
            </a:pPr>
            <a:r>
              <a:t>시간당 오경보 / 프레임 처리 지연 p95</a:t>
            </a:r>
          </a:p>
          <a:p>
            <a:pPr>
              <a:spcAft>
                <a:spcPts val="900"/>
              </a:spcAft>
              <a:defRPr sz="1700" b="0">
                <a:solidFill>
                  <a:srgbClr val="F5F7FC"/>
                </a:solidFill>
                <a:latin typeface="Noto Sans CJK KR"/>
              </a:defRPr>
            </a:pPr>
            <a:r>
              <a:t>최대 전체 RAM / FPS / 판정 가능 비율</a:t>
            </a:r>
          </a:p>
        </p:txBody>
      </p:sp>
      <p:sp>
        <p:nvSpPr>
          <p:cNvPr id="13" name="Rounded Rectangle 12"/>
          <p:cNvSpPr/>
          <p:nvPr/>
        </p:nvSpPr>
        <p:spPr>
          <a:xfrm>
            <a:off x="8074152" y="2633472"/>
            <a:ext cx="3520439" cy="29718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2779776"/>
            <a:ext cx="3154679" cy="393192"/>
          </a:xfrm>
          <a:prstGeom prst="rect">
            <a:avLst/>
          </a:prstGeom>
          <a:noFill/>
        </p:spPr>
        <p:txBody>
          <a:bodyPr wrap="square" lIns="0" rIns="0" tIns="25400" bIns="0">
            <a:spAutoFit/>
          </a:bodyPr>
          <a:lstStyle/>
          <a:p>
            <a:pPr>
              <a:spcAft>
                <a:spcPts val="900"/>
              </a:spcAft>
              <a:defRPr sz="1700" b="1">
                <a:solidFill>
                  <a:srgbClr val="45D6BE"/>
                </a:solidFill>
                <a:latin typeface="Noto Sans CJK KR"/>
              </a:defRPr>
            </a:pPr>
            <a:r>
              <a:t>피드백 효과 평가</a:t>
            </a:r>
          </a:p>
        </p:txBody>
      </p:sp>
      <p:sp>
        <p:nvSpPr>
          <p:cNvPr id="15" name="TextBox 14"/>
          <p:cNvSpPr txBox="1"/>
          <p:nvPr/>
        </p:nvSpPr>
        <p:spPr>
          <a:xfrm>
            <a:off x="8257031" y="3273552"/>
            <a:ext cx="3154679" cy="2267712"/>
          </a:xfrm>
          <a:prstGeom prst="rect">
            <a:avLst/>
          </a:prstGeom>
          <a:noFill/>
        </p:spPr>
        <p:txBody>
          <a:bodyPr wrap="square" lIns="0" rIns="0" tIns="25400" bIns="0">
            <a:spAutoFit/>
          </a:bodyPr>
          <a:lstStyle/>
          <a:p>
            <a:pPr>
              <a:spcAft>
                <a:spcPts val="900"/>
              </a:spcAft>
              <a:defRPr sz="1700" b="0">
                <a:solidFill>
                  <a:srgbClr val="F5F7FC"/>
                </a:solidFill>
                <a:latin typeface="Noto Sans CJK KR"/>
              </a:defRPr>
            </a:pPr>
            <a:r>
              <a:t>알림 유·무 순서를 바꾼 비교 실험</a:t>
            </a:r>
          </a:p>
          <a:p>
            <a:pPr>
              <a:spcAft>
                <a:spcPts val="900"/>
              </a:spcAft>
              <a:defRPr sz="1700" b="0">
                <a:solidFill>
                  <a:srgbClr val="F5F7FC"/>
                </a:solidFill>
                <a:latin typeface="Noto Sans CJK KR"/>
              </a:defRPr>
            </a:pPr>
            <a:r>
              <a:t>알림 후 10초 내 기준 자세 복귀율</a:t>
            </a:r>
          </a:p>
          <a:p>
            <a:pPr>
              <a:spcAft>
                <a:spcPts val="900"/>
              </a:spcAft>
              <a:defRPr sz="1700" b="0">
                <a:solidFill>
                  <a:srgbClr val="F5F7FC"/>
                </a:solidFill>
                <a:latin typeface="Noto Sans CJK KR"/>
              </a:defRPr>
            </a:pPr>
            <a:r>
              <a:t>기준 이탈 지속 시간과 주관적 피로도</a:t>
            </a:r>
          </a:p>
        </p:txBody>
      </p:sp>
      <p:sp>
        <p:nvSpPr>
          <p:cNvPr id="16" name="TextBox 15"/>
          <p:cNvSpPr txBox="1"/>
          <p:nvPr/>
        </p:nvSpPr>
        <p:spPr>
          <a:xfrm>
            <a:off x="594360" y="5943600"/>
            <a:ext cx="11000232" cy="457200"/>
          </a:xfrm>
          <a:prstGeom prst="rect">
            <a:avLst/>
          </a:prstGeom>
          <a:noFill/>
        </p:spPr>
        <p:txBody>
          <a:bodyPr wrap="square" lIns="0" rIns="0" tIns="25400" bIns="0">
            <a:spAutoFit/>
          </a:bodyPr>
          <a:lstStyle/>
          <a:p>
            <a:pPr>
              <a:spcAft>
                <a:spcPts val="900"/>
              </a:spcAft>
              <a:defRPr sz="1300" b="0">
                <a:solidFill>
                  <a:srgbClr val="45D6BE"/>
                </a:solidFill>
                <a:latin typeface="Noto Sans CJK KR"/>
              </a:defRPr>
            </a:pPr>
            <a:r>
              <a:t>어깨 키포인트는 C7이 아니므로 귀–어깨 각도를 임상 CVA로 표기하지 않는다.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728"/>
        </a:solidFill>
        <a:effectLst/>
      </p:bgPr>
    </p:bg>
    <p:spTree>
      <p:nvGrpSpPr>
        <p:cNvPr id="1" name=""/>
        <p:cNvGrpSpPr/>
        <p:nvPr/>
      </p:nvGrpSpPr>
      <p:grpSpPr/>
      <p:sp>
        <p:nvSpPr>
          <p:cNvPr id="2" name="Rectangle 1"/>
          <p:cNvSpPr/>
          <p:nvPr/>
        </p:nvSpPr>
        <p:spPr>
          <a:xfrm>
            <a:off x="502920" y="411480"/>
            <a:ext cx="73152" cy="201168"/>
          </a:xfrm>
          <a:prstGeom prst="rect">
            <a:avLst/>
          </a:prstGeom>
          <a:solidFill>
            <a:srgbClr val="45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56616"/>
            <a:ext cx="10058400" cy="320040"/>
          </a:xfrm>
          <a:prstGeom prst="rect">
            <a:avLst/>
          </a:prstGeom>
          <a:noFill/>
        </p:spPr>
        <p:txBody>
          <a:bodyPr wrap="square" lIns="0" rIns="0" tIns="25400" bIns="0">
            <a:spAutoFit/>
          </a:bodyPr>
          <a:lstStyle/>
          <a:p>
            <a:pPr>
              <a:spcAft>
                <a:spcPts val="900"/>
              </a:spcAft>
              <a:defRPr sz="1100" b="1">
                <a:solidFill>
                  <a:srgbClr val="45D6BE"/>
                </a:solidFill>
                <a:latin typeface="Noto Sans CJK KR"/>
              </a:defRPr>
            </a:pPr>
            <a:r>
              <a:t>APPENDIX · ABSTRACT</a:t>
            </a:r>
          </a:p>
        </p:txBody>
      </p:sp>
      <p:sp>
        <p:nvSpPr>
          <p:cNvPr id="4" name="TextBox 3"/>
          <p:cNvSpPr txBox="1"/>
          <p:nvPr/>
        </p:nvSpPr>
        <p:spPr>
          <a:xfrm>
            <a:off x="594360" y="886968"/>
            <a:ext cx="10972800" cy="960120"/>
          </a:xfrm>
          <a:prstGeom prst="rect">
            <a:avLst/>
          </a:prstGeom>
          <a:noFill/>
        </p:spPr>
        <p:txBody>
          <a:bodyPr wrap="square" lIns="0" rIns="0" tIns="25400" bIns="0">
            <a:spAutoFit/>
          </a:bodyPr>
          <a:lstStyle/>
          <a:p>
            <a:pPr>
              <a:spcAft>
                <a:spcPts val="900"/>
              </a:spcAft>
              <a:defRPr sz="2800" b="1">
                <a:solidFill>
                  <a:srgbClr val="F5F7FC"/>
                </a:solidFill>
                <a:latin typeface="Noto Sans CJK KR"/>
              </a:defRPr>
            </a:pPr>
            <a:r>
              <a:t>연구 초록</a:t>
            </a:r>
          </a:p>
        </p:txBody>
      </p:sp>
      <p:sp>
        <p:nvSpPr>
          <p:cNvPr id="5" name="TextBox 4"/>
          <p:cNvSpPr txBox="1"/>
          <p:nvPr/>
        </p:nvSpPr>
        <p:spPr>
          <a:xfrm>
            <a:off x="594360" y="1865376"/>
            <a:ext cx="10972800" cy="694944"/>
          </a:xfrm>
          <a:prstGeom prst="rect">
            <a:avLst/>
          </a:prstGeom>
          <a:noFill/>
        </p:spPr>
        <p:txBody>
          <a:bodyPr wrap="square" lIns="0" rIns="0" tIns="25400" bIns="0">
            <a:spAutoFit/>
          </a:bodyPr>
          <a:lstStyle/>
          <a:p>
            <a:pPr>
              <a:spcAft>
                <a:spcPts val="900"/>
              </a:spcAft>
              <a:defRPr sz="1500" b="0">
                <a:solidFill>
                  <a:srgbClr val="ADBBD0"/>
                </a:solidFill>
                <a:latin typeface="Noto Sans CJK KR"/>
              </a:defRPr>
            </a:pPr>
            <a:r>
              <a:t>연구계획형 초록 · 아직 실험하지 않은 성능이나 치료 효과는 포함하지 않음</a:t>
            </a:r>
          </a:p>
        </p:txBody>
      </p:sp>
      <p:sp>
        <p:nvSpPr>
          <p:cNvPr id="6" name="TextBox 5"/>
          <p:cNvSpPr txBox="1"/>
          <p:nvPr/>
        </p:nvSpPr>
        <p:spPr>
          <a:xfrm>
            <a:off x="11064240" y="6455664"/>
            <a:ext cx="548640" cy="228600"/>
          </a:xfrm>
          <a:prstGeom prst="rect">
            <a:avLst/>
          </a:prstGeom>
          <a:noFill/>
        </p:spPr>
        <p:txBody>
          <a:bodyPr wrap="square" lIns="0" rIns="0" tIns="25400" bIns="0">
            <a:spAutoFit/>
          </a:bodyPr>
          <a:lstStyle/>
          <a:p>
            <a:pPr>
              <a:spcAft>
                <a:spcPts val="900"/>
              </a:spcAft>
              <a:defRPr sz="1000" b="0">
                <a:solidFill>
                  <a:srgbClr val="ADBBD0"/>
                </a:solidFill>
                <a:latin typeface="Noto Sans CJK KR"/>
              </a:defRPr>
            </a:pPr>
            <a:r>
              <a:t>15</a:t>
            </a:r>
          </a:p>
        </p:txBody>
      </p:sp>
      <p:sp>
        <p:nvSpPr>
          <p:cNvPr id="7" name="Rounded Rectangle 6"/>
          <p:cNvSpPr/>
          <p:nvPr/>
        </p:nvSpPr>
        <p:spPr>
          <a:xfrm>
            <a:off x="594360" y="2670048"/>
            <a:ext cx="11000232" cy="3200400"/>
          </a:xfrm>
          <a:prstGeom prst="roundRect">
            <a:avLst/>
          </a:prstGeom>
          <a:solidFill>
            <a:srgbClr val="1624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862072"/>
            <a:ext cx="10405872" cy="2788920"/>
          </a:xfrm>
          <a:prstGeom prst="rect">
            <a:avLst/>
          </a:prstGeom>
          <a:noFill/>
        </p:spPr>
        <p:txBody>
          <a:bodyPr wrap="square" lIns="0" rIns="0" tIns="25400" bIns="0">
            <a:spAutoFit/>
          </a:bodyPr>
          <a:lstStyle/>
          <a:p>
            <a:pPr>
              <a:spcAft>
                <a:spcPts val="900"/>
              </a:spcAft>
              <a:defRPr sz="1800" b="0">
                <a:solidFill>
                  <a:srgbClr val="F5F7FC"/>
                </a:solidFill>
                <a:latin typeface="Noto Sans CJK KR"/>
              </a:defRPr>
            </a:pPr>
            <a:r>
              <a:t>본 연구는 Jetson Nano 4GB와 단일 RGB 카메라를 활용하여 컴퓨터 작업 중 전방머리자세와 상체 기울어짐을 감지하고 자세 교정을 유도하는 온디바이스 시스템을 제안한다. 경량 딥러닝 자세 추정 모델로 측면 영상의 귀·어깨·엉덩이 좌표를 추출하고, 개인별 기준 자세에 대한 상대적 변위와 각도 변화를 분석한다. 키포인트 신뢰도와 자세 지속 시간을 함께 고려하여 일시적인 움직임에 따른 불필요한 알림을 줄이고, 기준 이탈이 지속될 때 시각·청각 피드백을 제공한다. 모델 학습은 외부 PC에서 수행하며, 장치에서는 단일 사용자 추론과 간단한 후처리를 실행하여 4GB 메모리 제약에 대응한다. 원본 영상은 기본적으로 저장하거나 외부로 전송하지 않고 자세 지표와 알림 이력을 로컬에 기록한다. 평가는 사용자 단위로 분리한 데이터에서 자세 분류 성능, 시간당 오경보, 처리 지연, 최대 메모리 사용량 및 알림 후 자세 복귀율을 측정한다. 이를 통해 제한된 엣지 자원에서 개인화된 자세 감지와 지속 가능한 피드백의 구현 가능성을 검증하고자 한다.</a:t>
            </a:r>
          </a:p>
        </p:txBody>
      </p:sp>
      <p:sp>
        <p:nvSpPr>
          <p:cNvPr id="9" name="TextBox 8"/>
          <p:cNvSpPr txBox="1"/>
          <p:nvPr/>
        </p:nvSpPr>
        <p:spPr>
          <a:xfrm>
            <a:off x="594360" y="5943600"/>
            <a:ext cx="11000232" cy="457200"/>
          </a:xfrm>
          <a:prstGeom prst="rect">
            <a:avLst/>
          </a:prstGeom>
          <a:noFill/>
        </p:spPr>
        <p:txBody>
          <a:bodyPr wrap="square" lIns="0" rIns="0" tIns="25400" bIns="0">
            <a:spAutoFit/>
          </a:bodyPr>
          <a:lstStyle/>
          <a:p>
            <a:pPr>
              <a:spcAft>
                <a:spcPts val="900"/>
              </a:spcAft>
              <a:defRPr sz="1300" b="0">
                <a:solidFill>
                  <a:srgbClr val="45D6BE"/>
                </a:solidFill>
                <a:latin typeface="Noto Sans CJK KR"/>
              </a:defRPr>
            </a:pPr>
            <a:r>
              <a:t>키워드: 전방머리자세 · 경량 자세 추정 · Jetson Nano · 엣지 AI · 개인화 피드백</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728"/>
        </a:solidFill>
        <a:effectLst/>
      </p:bgPr>
    </p:bg>
    <p:spTree>
      <p:nvGrpSpPr>
        <p:cNvPr id="1" name=""/>
        <p:cNvGrpSpPr/>
        <p:nvPr/>
      </p:nvGrpSpPr>
      <p:grpSpPr/>
      <p:sp>
        <p:nvSpPr>
          <p:cNvPr id="2" name="Rectangle 1"/>
          <p:cNvSpPr/>
          <p:nvPr/>
        </p:nvSpPr>
        <p:spPr>
          <a:xfrm>
            <a:off x="502920" y="411480"/>
            <a:ext cx="73152" cy="201168"/>
          </a:xfrm>
          <a:prstGeom prst="rect">
            <a:avLst/>
          </a:prstGeom>
          <a:solidFill>
            <a:srgbClr val="45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56616"/>
            <a:ext cx="10058400" cy="320040"/>
          </a:xfrm>
          <a:prstGeom prst="rect">
            <a:avLst/>
          </a:prstGeom>
          <a:noFill/>
        </p:spPr>
        <p:txBody>
          <a:bodyPr wrap="square" lIns="0" rIns="0" tIns="25400" bIns="0">
            <a:spAutoFit/>
          </a:bodyPr>
          <a:lstStyle/>
          <a:p>
            <a:pPr>
              <a:spcAft>
                <a:spcPts val="900"/>
              </a:spcAft>
              <a:defRPr sz="1100" b="1">
                <a:solidFill>
                  <a:srgbClr val="45D6BE"/>
                </a:solidFill>
                <a:latin typeface="Noto Sans CJK KR"/>
              </a:defRPr>
            </a:pPr>
            <a:r>
              <a:t>APPENDIX · REFERENCES</a:t>
            </a:r>
          </a:p>
        </p:txBody>
      </p:sp>
      <p:sp>
        <p:nvSpPr>
          <p:cNvPr id="4" name="TextBox 3"/>
          <p:cNvSpPr txBox="1"/>
          <p:nvPr/>
        </p:nvSpPr>
        <p:spPr>
          <a:xfrm>
            <a:off x="594360" y="886968"/>
            <a:ext cx="10972800" cy="960120"/>
          </a:xfrm>
          <a:prstGeom prst="rect">
            <a:avLst/>
          </a:prstGeom>
          <a:noFill/>
        </p:spPr>
        <p:txBody>
          <a:bodyPr wrap="square" lIns="0" rIns="0" tIns="25400" bIns="0">
            <a:spAutoFit/>
          </a:bodyPr>
          <a:lstStyle/>
          <a:p>
            <a:pPr>
              <a:spcAft>
                <a:spcPts val="900"/>
              </a:spcAft>
              <a:defRPr sz="2800" b="1">
                <a:solidFill>
                  <a:srgbClr val="F5F7FC"/>
                </a:solidFill>
                <a:latin typeface="Noto Sans CJK KR"/>
              </a:defRPr>
            </a:pPr>
            <a:r>
              <a:t>참고문헌 및 조사 출처</a:t>
            </a:r>
          </a:p>
        </p:txBody>
      </p:sp>
      <p:sp>
        <p:nvSpPr>
          <p:cNvPr id="5" name="TextBox 4"/>
          <p:cNvSpPr txBox="1"/>
          <p:nvPr/>
        </p:nvSpPr>
        <p:spPr>
          <a:xfrm>
            <a:off x="594360" y="1865376"/>
            <a:ext cx="10972800" cy="694944"/>
          </a:xfrm>
          <a:prstGeom prst="rect">
            <a:avLst/>
          </a:prstGeom>
          <a:noFill/>
        </p:spPr>
        <p:txBody>
          <a:bodyPr wrap="square" lIns="0" rIns="0" tIns="25400" bIns="0">
            <a:spAutoFit/>
          </a:bodyPr>
          <a:lstStyle/>
          <a:p>
            <a:pPr>
              <a:spcAft>
                <a:spcPts val="900"/>
              </a:spcAft>
              <a:defRPr sz="1500" b="0">
                <a:solidFill>
                  <a:srgbClr val="ADBBD0"/>
                </a:solidFill>
                <a:latin typeface="Noto Sans CJK KR"/>
              </a:defRPr>
            </a:pPr>
            <a:r>
              <a:t>각 출처명 클릭 시 원문으로 이동 · 열람일 2026.09.13</a:t>
            </a:r>
          </a:p>
        </p:txBody>
      </p:sp>
      <p:sp>
        <p:nvSpPr>
          <p:cNvPr id="6" name="TextBox 5"/>
          <p:cNvSpPr txBox="1"/>
          <p:nvPr/>
        </p:nvSpPr>
        <p:spPr>
          <a:xfrm>
            <a:off x="11064240" y="6455664"/>
            <a:ext cx="548640" cy="228600"/>
          </a:xfrm>
          <a:prstGeom prst="rect">
            <a:avLst/>
          </a:prstGeom>
          <a:noFill/>
        </p:spPr>
        <p:txBody>
          <a:bodyPr wrap="square" lIns="0" rIns="0" tIns="25400" bIns="0">
            <a:spAutoFit/>
          </a:bodyPr>
          <a:lstStyle/>
          <a:p>
            <a:pPr>
              <a:spcAft>
                <a:spcPts val="900"/>
              </a:spcAft>
              <a:defRPr sz="1000" b="0">
                <a:solidFill>
                  <a:srgbClr val="ADBBD0"/>
                </a:solidFill>
                <a:latin typeface="Noto Sans CJK KR"/>
              </a:defRPr>
            </a:pPr>
            <a:r>
              <a:t>16</a:t>
            </a:r>
          </a:p>
        </p:txBody>
      </p:sp>
      <p:sp>
        <p:nvSpPr>
          <p:cNvPr id="7" name="TextBox 6"/>
          <p:cNvSpPr txBox="1"/>
          <p:nvPr/>
        </p:nvSpPr>
        <p:spPr>
          <a:xfrm>
            <a:off x="731520" y="2670048"/>
            <a:ext cx="10698480" cy="411480"/>
          </a:xfrm>
          <a:prstGeom prst="rect">
            <a:avLst/>
          </a:prstGeom>
          <a:noFill/>
        </p:spPr>
        <p:txBody>
          <a:bodyPr wrap="square" lIns="0" rIns="0" tIns="25400" bIns="0">
            <a:spAutoFit/>
          </a:bodyPr>
          <a:lstStyle/>
          <a:p>
            <a:pPr>
              <a:spcAft>
                <a:spcPts val="900"/>
              </a:spcAft>
              <a:defRPr sz="1600" b="0">
                <a:solidFill>
                  <a:srgbClr val="F5F7FC"/>
                </a:solidFill>
                <a:latin typeface="Noto Sans CJK KR"/>
              </a:defRPr>
            </a:pPr>
            <a:r>
              <a:rPr>
                <a:hlinkClick r:id="rId2"/>
              </a:rPr>
              <a:t>[P1] Lee et al., Applied Sciences 2023, 13(19), 10935</a:t>
            </a:r>
          </a:p>
        </p:txBody>
      </p:sp>
      <p:sp>
        <p:nvSpPr>
          <p:cNvPr id="8" name="TextBox 7"/>
          <p:cNvSpPr txBox="1"/>
          <p:nvPr/>
        </p:nvSpPr>
        <p:spPr>
          <a:xfrm>
            <a:off x="731520" y="3172968"/>
            <a:ext cx="10698480" cy="411480"/>
          </a:xfrm>
          <a:prstGeom prst="rect">
            <a:avLst/>
          </a:prstGeom>
          <a:noFill/>
        </p:spPr>
        <p:txBody>
          <a:bodyPr wrap="square" lIns="0" rIns="0" tIns="25400" bIns="0">
            <a:spAutoFit/>
          </a:bodyPr>
          <a:lstStyle/>
          <a:p>
            <a:pPr>
              <a:spcAft>
                <a:spcPts val="900"/>
              </a:spcAft>
              <a:defRPr sz="1600" b="0">
                <a:solidFill>
                  <a:srgbClr val="F5F7FC"/>
                </a:solidFill>
                <a:latin typeface="Noto Sans CJK KR"/>
              </a:defRPr>
            </a:pPr>
            <a:r>
              <a:rPr>
                <a:hlinkClick r:id="rId3"/>
              </a:rPr>
              <a:t>[P2] Yu et al., Lite-HRNet, CVPR 2021, pp. 10440–10450</a:t>
            </a:r>
          </a:p>
        </p:txBody>
      </p:sp>
      <p:sp>
        <p:nvSpPr>
          <p:cNvPr id="9" name="TextBox 8"/>
          <p:cNvSpPr txBox="1"/>
          <p:nvPr/>
        </p:nvSpPr>
        <p:spPr>
          <a:xfrm>
            <a:off x="731520" y="3675887"/>
            <a:ext cx="10698480" cy="411480"/>
          </a:xfrm>
          <a:prstGeom prst="rect">
            <a:avLst/>
          </a:prstGeom>
          <a:noFill/>
        </p:spPr>
        <p:txBody>
          <a:bodyPr wrap="square" lIns="0" rIns="0" tIns="25400" bIns="0">
            <a:spAutoFit/>
          </a:bodyPr>
          <a:lstStyle/>
          <a:p>
            <a:pPr>
              <a:spcAft>
                <a:spcPts val="900"/>
              </a:spcAft>
              <a:defRPr sz="1600" b="0">
                <a:solidFill>
                  <a:srgbClr val="F5F7FC"/>
                </a:solidFill>
                <a:latin typeface="Noto Sans CJK KR"/>
              </a:defRPr>
            </a:pPr>
            <a:r>
              <a:rPr>
                <a:hlinkClick r:id="rId4"/>
              </a:rPr>
              <a:t>[P3] Wang et al., Lite Pose, CVPR 2022, pp. 13126–13136</a:t>
            </a:r>
          </a:p>
        </p:txBody>
      </p:sp>
      <p:sp>
        <p:nvSpPr>
          <p:cNvPr id="10" name="TextBox 9"/>
          <p:cNvSpPr txBox="1"/>
          <p:nvPr/>
        </p:nvSpPr>
        <p:spPr>
          <a:xfrm>
            <a:off x="731520" y="4178808"/>
            <a:ext cx="10698480" cy="411480"/>
          </a:xfrm>
          <a:prstGeom prst="rect">
            <a:avLst/>
          </a:prstGeom>
          <a:noFill/>
        </p:spPr>
        <p:txBody>
          <a:bodyPr wrap="square" lIns="0" rIns="0" tIns="25400" bIns="0">
            <a:spAutoFit/>
          </a:bodyPr>
          <a:lstStyle/>
          <a:p>
            <a:pPr>
              <a:spcAft>
                <a:spcPts val="900"/>
              </a:spcAft>
              <a:defRPr sz="1600" b="0">
                <a:solidFill>
                  <a:srgbClr val="F5F7FC"/>
                </a:solidFill>
                <a:latin typeface="Noto Sans CJK KR"/>
              </a:defRPr>
            </a:pPr>
            <a:r>
              <a:rPr>
                <a:hlinkClick r:id="rId5"/>
              </a:rPr>
              <a:t>[H1] NVIDIA, Jetson Nano 공식 사양</a:t>
            </a:r>
          </a:p>
        </p:txBody>
      </p:sp>
      <p:sp>
        <p:nvSpPr>
          <p:cNvPr id="11" name="TextBox 10"/>
          <p:cNvSpPr txBox="1"/>
          <p:nvPr/>
        </p:nvSpPr>
        <p:spPr>
          <a:xfrm>
            <a:off x="731520" y="4681728"/>
            <a:ext cx="10698480" cy="411480"/>
          </a:xfrm>
          <a:prstGeom prst="rect">
            <a:avLst/>
          </a:prstGeom>
          <a:noFill/>
        </p:spPr>
        <p:txBody>
          <a:bodyPr wrap="square" lIns="0" rIns="0" tIns="25400" bIns="0">
            <a:spAutoFit/>
          </a:bodyPr>
          <a:lstStyle/>
          <a:p>
            <a:pPr>
              <a:spcAft>
                <a:spcPts val="900"/>
              </a:spcAft>
              <a:defRPr sz="1600" b="0">
                <a:solidFill>
                  <a:srgbClr val="F5F7FC"/>
                </a:solidFill>
                <a:latin typeface="Noto Sans CJK KR"/>
              </a:defRPr>
            </a:pPr>
            <a:r>
              <a:rPr>
                <a:hlinkClick r:id="rId6"/>
              </a:rPr>
              <a:t>[H2] NVIDIA, JetPack 4 최종 릴리스 공지, 2024-11-22</a:t>
            </a:r>
          </a:p>
        </p:txBody>
      </p:sp>
      <p:sp>
        <p:nvSpPr>
          <p:cNvPr id="12" name="TextBox 11"/>
          <p:cNvSpPr txBox="1"/>
          <p:nvPr/>
        </p:nvSpPr>
        <p:spPr>
          <a:xfrm>
            <a:off x="731520" y="5897880"/>
            <a:ext cx="10789920" cy="457200"/>
          </a:xfrm>
          <a:prstGeom prst="rect">
            <a:avLst/>
          </a:prstGeom>
          <a:noFill/>
        </p:spPr>
        <p:txBody>
          <a:bodyPr wrap="square" lIns="0" rIns="0" tIns="25400" bIns="0">
            <a:spAutoFit/>
          </a:bodyPr>
          <a:lstStyle/>
          <a:p>
            <a:pPr>
              <a:spcAft>
                <a:spcPts val="900"/>
              </a:spcAft>
              <a:defRPr sz="1300" b="0">
                <a:solidFill>
                  <a:srgbClr val="45D6BE"/>
                </a:solidFill>
                <a:latin typeface="Noto Sans CJK KR"/>
              </a:defRPr>
            </a:pPr>
            <a:r>
              <a:t>기업 발표는 상용화·사업 동향 근거로 사용. 제안 시스템의 효과·시장 규모와 구분.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728"/>
        </a:solidFill>
        <a:effectLst/>
      </p:bgPr>
    </p:bg>
    <p:spTree>
      <p:nvGrpSpPr>
        <p:cNvPr id="1" name=""/>
        <p:cNvGrpSpPr/>
        <p:nvPr/>
      </p:nvGrpSpPr>
      <p:grpSpPr/>
      <p:sp>
        <p:nvSpPr>
          <p:cNvPr id="2" name="Rectangle 1"/>
          <p:cNvSpPr/>
          <p:nvPr/>
        </p:nvSpPr>
        <p:spPr>
          <a:xfrm>
            <a:off x="502920" y="411480"/>
            <a:ext cx="73152" cy="201168"/>
          </a:xfrm>
          <a:prstGeom prst="rect">
            <a:avLst/>
          </a:prstGeom>
          <a:solidFill>
            <a:srgbClr val="45D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56616"/>
            <a:ext cx="10058400" cy="320040"/>
          </a:xfrm>
          <a:prstGeom prst="rect">
            <a:avLst/>
          </a:prstGeom>
          <a:noFill/>
        </p:spPr>
        <p:txBody>
          <a:bodyPr wrap="square" lIns="0" rIns="0" tIns="25400" bIns="0">
            <a:spAutoFit/>
          </a:bodyPr>
          <a:lstStyle/>
          <a:p>
            <a:pPr>
              <a:spcAft>
                <a:spcPts val="900"/>
              </a:spcAft>
              <a:defRPr sz="1100" b="1">
                <a:solidFill>
                  <a:srgbClr val="45D6BE"/>
                </a:solidFill>
                <a:latin typeface="Noto Sans CJK KR"/>
              </a:defRPr>
            </a:pPr>
            <a:r>
              <a:t>APPENDIX · REFERENCES</a:t>
            </a:r>
          </a:p>
        </p:txBody>
      </p:sp>
      <p:sp>
        <p:nvSpPr>
          <p:cNvPr id="4" name="TextBox 3"/>
          <p:cNvSpPr txBox="1"/>
          <p:nvPr/>
        </p:nvSpPr>
        <p:spPr>
          <a:xfrm>
            <a:off x="594360" y="886968"/>
            <a:ext cx="10972800" cy="960120"/>
          </a:xfrm>
          <a:prstGeom prst="rect">
            <a:avLst/>
          </a:prstGeom>
          <a:noFill/>
        </p:spPr>
        <p:txBody>
          <a:bodyPr wrap="square" lIns="0" rIns="0" tIns="25400" bIns="0">
            <a:spAutoFit/>
          </a:bodyPr>
          <a:lstStyle/>
          <a:p>
            <a:pPr>
              <a:spcAft>
                <a:spcPts val="900"/>
              </a:spcAft>
              <a:defRPr sz="2800" b="1">
                <a:solidFill>
                  <a:srgbClr val="F5F7FC"/>
                </a:solidFill>
                <a:latin typeface="Noto Sans CJK KR"/>
              </a:defRPr>
            </a:pPr>
            <a:r>
              <a:t>참고문헌 및 조사 출처</a:t>
            </a:r>
          </a:p>
        </p:txBody>
      </p:sp>
      <p:sp>
        <p:nvSpPr>
          <p:cNvPr id="5" name="TextBox 4"/>
          <p:cNvSpPr txBox="1"/>
          <p:nvPr/>
        </p:nvSpPr>
        <p:spPr>
          <a:xfrm>
            <a:off x="594360" y="1865376"/>
            <a:ext cx="10972800" cy="694944"/>
          </a:xfrm>
          <a:prstGeom prst="rect">
            <a:avLst/>
          </a:prstGeom>
          <a:noFill/>
        </p:spPr>
        <p:txBody>
          <a:bodyPr wrap="square" lIns="0" rIns="0" tIns="25400" bIns="0">
            <a:spAutoFit/>
          </a:bodyPr>
          <a:lstStyle/>
          <a:p>
            <a:pPr>
              <a:spcAft>
                <a:spcPts val="900"/>
              </a:spcAft>
              <a:defRPr sz="1500" b="0">
                <a:solidFill>
                  <a:srgbClr val="ADBBD0"/>
                </a:solidFill>
                <a:latin typeface="Noto Sans CJK KR"/>
              </a:defRPr>
            </a:pPr>
            <a:r>
              <a:t>각 출처명 클릭 시 원문으로 이동 · 열람일 2026.09.13</a:t>
            </a:r>
          </a:p>
        </p:txBody>
      </p:sp>
      <p:sp>
        <p:nvSpPr>
          <p:cNvPr id="6" name="TextBox 5"/>
          <p:cNvSpPr txBox="1"/>
          <p:nvPr/>
        </p:nvSpPr>
        <p:spPr>
          <a:xfrm>
            <a:off x="11064240" y="6455664"/>
            <a:ext cx="548640" cy="228600"/>
          </a:xfrm>
          <a:prstGeom prst="rect">
            <a:avLst/>
          </a:prstGeom>
          <a:noFill/>
        </p:spPr>
        <p:txBody>
          <a:bodyPr wrap="square" lIns="0" rIns="0" tIns="25400" bIns="0">
            <a:spAutoFit/>
          </a:bodyPr>
          <a:lstStyle/>
          <a:p>
            <a:pPr>
              <a:spcAft>
                <a:spcPts val="900"/>
              </a:spcAft>
              <a:defRPr sz="1000" b="0">
                <a:solidFill>
                  <a:srgbClr val="ADBBD0"/>
                </a:solidFill>
                <a:latin typeface="Noto Sans CJK KR"/>
              </a:defRPr>
            </a:pPr>
            <a:r>
              <a:t>17</a:t>
            </a:r>
          </a:p>
        </p:txBody>
      </p:sp>
      <p:sp>
        <p:nvSpPr>
          <p:cNvPr id="7" name="TextBox 6"/>
          <p:cNvSpPr txBox="1"/>
          <p:nvPr/>
        </p:nvSpPr>
        <p:spPr>
          <a:xfrm>
            <a:off x="731520" y="2670048"/>
            <a:ext cx="10698480" cy="411480"/>
          </a:xfrm>
          <a:prstGeom prst="rect">
            <a:avLst/>
          </a:prstGeom>
          <a:noFill/>
        </p:spPr>
        <p:txBody>
          <a:bodyPr wrap="square" lIns="0" rIns="0" tIns="25400" bIns="0">
            <a:spAutoFit/>
          </a:bodyPr>
          <a:lstStyle/>
          <a:p>
            <a:pPr>
              <a:spcAft>
                <a:spcPts val="900"/>
              </a:spcAft>
              <a:defRPr sz="1600" b="0">
                <a:solidFill>
                  <a:srgbClr val="F5F7FC"/>
                </a:solidFill>
                <a:latin typeface="Noto Sans CJK KR"/>
              </a:defRPr>
            </a:pPr>
            <a:r>
              <a:rPr>
                <a:hlinkClick r:id="rId2"/>
              </a:rPr>
              <a:t>[B1] WHO, 신체활동 부족 보도자료, 2024-06-26</a:t>
            </a:r>
          </a:p>
        </p:txBody>
      </p:sp>
      <p:sp>
        <p:nvSpPr>
          <p:cNvPr id="8" name="TextBox 7"/>
          <p:cNvSpPr txBox="1"/>
          <p:nvPr/>
        </p:nvSpPr>
        <p:spPr>
          <a:xfrm>
            <a:off x="731520" y="3172968"/>
            <a:ext cx="10698480" cy="411480"/>
          </a:xfrm>
          <a:prstGeom prst="rect">
            <a:avLst/>
          </a:prstGeom>
          <a:noFill/>
        </p:spPr>
        <p:txBody>
          <a:bodyPr wrap="square" lIns="0" rIns="0" tIns="25400" bIns="0">
            <a:spAutoFit/>
          </a:bodyPr>
          <a:lstStyle/>
          <a:p>
            <a:pPr>
              <a:spcAft>
                <a:spcPts val="900"/>
              </a:spcAft>
              <a:defRPr sz="1600" b="0">
                <a:solidFill>
                  <a:srgbClr val="F5F7FC"/>
                </a:solidFill>
                <a:latin typeface="Noto Sans CJK KR"/>
              </a:defRPr>
            </a:pPr>
            <a:r>
              <a:rPr>
                <a:hlinkClick r:id="rId3"/>
              </a:rPr>
              <a:t>[B2] Hinge Health, AI care tools, 2025-10-21</a:t>
            </a:r>
          </a:p>
        </p:txBody>
      </p:sp>
      <p:sp>
        <p:nvSpPr>
          <p:cNvPr id="9" name="TextBox 8"/>
          <p:cNvSpPr txBox="1"/>
          <p:nvPr/>
        </p:nvSpPr>
        <p:spPr>
          <a:xfrm>
            <a:off x="731520" y="3675887"/>
            <a:ext cx="10698480" cy="411480"/>
          </a:xfrm>
          <a:prstGeom prst="rect">
            <a:avLst/>
          </a:prstGeom>
          <a:noFill/>
        </p:spPr>
        <p:txBody>
          <a:bodyPr wrap="square" lIns="0" rIns="0" tIns="25400" bIns="0">
            <a:spAutoFit/>
          </a:bodyPr>
          <a:lstStyle/>
          <a:p>
            <a:pPr>
              <a:spcAft>
                <a:spcPts val="900"/>
              </a:spcAft>
              <a:defRPr sz="1600" b="0">
                <a:solidFill>
                  <a:srgbClr val="F5F7FC"/>
                </a:solidFill>
                <a:latin typeface="Noto Sans CJK KR"/>
              </a:defRPr>
            </a:pPr>
            <a:r>
              <a:rPr>
                <a:hlinkClick r:id="rId4"/>
              </a:rPr>
              <a:t>[B3] Hinge Health R&amp;D, 기기 지연 최적화, 2026-08-04</a:t>
            </a:r>
          </a:p>
        </p:txBody>
      </p:sp>
      <p:sp>
        <p:nvSpPr>
          <p:cNvPr id="10" name="TextBox 9"/>
          <p:cNvSpPr txBox="1"/>
          <p:nvPr/>
        </p:nvSpPr>
        <p:spPr>
          <a:xfrm>
            <a:off x="731520" y="4178808"/>
            <a:ext cx="10698480" cy="411480"/>
          </a:xfrm>
          <a:prstGeom prst="rect">
            <a:avLst/>
          </a:prstGeom>
          <a:noFill/>
        </p:spPr>
        <p:txBody>
          <a:bodyPr wrap="square" lIns="0" rIns="0" tIns="25400" bIns="0">
            <a:spAutoFit/>
          </a:bodyPr>
          <a:lstStyle/>
          <a:p>
            <a:pPr>
              <a:spcAft>
                <a:spcPts val="900"/>
              </a:spcAft>
              <a:defRPr sz="1600" b="0">
                <a:solidFill>
                  <a:srgbClr val="F5F7FC"/>
                </a:solidFill>
                <a:latin typeface="Noto Sans CJK KR"/>
              </a:defRPr>
            </a:pPr>
            <a:r>
              <a:rPr>
                <a:hlinkClick r:id="rId5"/>
              </a:rPr>
              <a:t>[M1] EverEx 공식 뉴스룸, 2025년 국내 사업 동향</a:t>
            </a:r>
          </a:p>
        </p:txBody>
      </p:sp>
      <p:sp>
        <p:nvSpPr>
          <p:cNvPr id="11" name="TextBox 10"/>
          <p:cNvSpPr txBox="1"/>
          <p:nvPr/>
        </p:nvSpPr>
        <p:spPr>
          <a:xfrm>
            <a:off x="731520" y="4681728"/>
            <a:ext cx="10698480" cy="411480"/>
          </a:xfrm>
          <a:prstGeom prst="rect">
            <a:avLst/>
          </a:prstGeom>
          <a:noFill/>
        </p:spPr>
        <p:txBody>
          <a:bodyPr wrap="square" lIns="0" rIns="0" tIns="25400" bIns="0">
            <a:spAutoFit/>
          </a:bodyPr>
          <a:lstStyle/>
          <a:p>
            <a:pPr>
              <a:spcAft>
                <a:spcPts val="900"/>
              </a:spcAft>
              <a:defRPr sz="1600" b="0">
                <a:solidFill>
                  <a:srgbClr val="F5F7FC"/>
                </a:solidFill>
                <a:latin typeface="Noto Sans CJK KR"/>
              </a:defRPr>
            </a:pPr>
            <a:r>
              <a:rPr>
                <a:hlinkClick r:id="rId6"/>
              </a:rPr>
              <a:t>[M2] EverEx 공식 제품·서비스 소개, 2026-09-13 열람</a:t>
            </a:r>
          </a:p>
        </p:txBody>
      </p:sp>
      <p:sp>
        <p:nvSpPr>
          <p:cNvPr id="12" name="TextBox 11"/>
          <p:cNvSpPr txBox="1"/>
          <p:nvPr/>
        </p:nvSpPr>
        <p:spPr>
          <a:xfrm>
            <a:off x="731520" y="5184648"/>
            <a:ext cx="10698480" cy="411480"/>
          </a:xfrm>
          <a:prstGeom prst="rect">
            <a:avLst/>
          </a:prstGeom>
          <a:noFill/>
        </p:spPr>
        <p:txBody>
          <a:bodyPr wrap="square" lIns="0" rIns="0" tIns="25400" bIns="0">
            <a:spAutoFit/>
          </a:bodyPr>
          <a:lstStyle/>
          <a:p>
            <a:pPr>
              <a:spcAft>
                <a:spcPts val="900"/>
              </a:spcAft>
              <a:defRPr sz="1600" b="0">
                <a:solidFill>
                  <a:srgbClr val="F5F7FC"/>
                </a:solidFill>
                <a:latin typeface="Noto Sans CJK KR"/>
              </a:defRPr>
            </a:pPr>
            <a:r>
              <a:rPr>
                <a:hlinkClick r:id="rId7"/>
              </a:rPr>
              <a:t>[M3] Hinge Health, 2025 연간 실적, 2026-02-10</a:t>
            </a:r>
          </a:p>
        </p:txBody>
      </p:sp>
      <p:sp>
        <p:nvSpPr>
          <p:cNvPr id="13" name="TextBox 12"/>
          <p:cNvSpPr txBox="1"/>
          <p:nvPr/>
        </p:nvSpPr>
        <p:spPr>
          <a:xfrm>
            <a:off x="731520" y="5897880"/>
            <a:ext cx="10789920" cy="457200"/>
          </a:xfrm>
          <a:prstGeom prst="rect">
            <a:avLst/>
          </a:prstGeom>
          <a:noFill/>
        </p:spPr>
        <p:txBody>
          <a:bodyPr wrap="square" lIns="0" rIns="0" tIns="25400" bIns="0">
            <a:spAutoFit/>
          </a:bodyPr>
          <a:lstStyle/>
          <a:p>
            <a:pPr>
              <a:spcAft>
                <a:spcPts val="900"/>
              </a:spcAft>
              <a:defRPr sz="1300" b="0">
                <a:solidFill>
                  <a:srgbClr val="45D6BE"/>
                </a:solidFill>
                <a:latin typeface="Noto Sans CJK KR"/>
              </a:defRPr>
            </a:pPr>
            <a:r>
              <a:t>기업 발표는 상용화·사업 동향 근거로 사용. 제안 시스템의 효과·시장 규모와 구분.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